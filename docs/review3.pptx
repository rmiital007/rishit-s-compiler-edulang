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1200"/>
              </a:spcBef>
              <a:defRPr sz="3800" b="1">
                <a:solidFill>
                  <a:srgbClr val="0F172A"/>
                </a:solidFill>
              </a:defRPr>
            </a:pPr>
            <a:r>
              <a:t>EduLang: An Educational C++20 Compiler</a:t>
            </a:r>
          </a:p>
          <a:p>
            <a:pPr>
              <a:spcBef>
                <a:spcPts val="1400"/>
              </a:spcBef>
              <a:defRPr sz="1600">
                <a:solidFill>
                  <a:srgbClr val="475569"/>
                </a:solidFill>
              </a:defRPr>
            </a:pPr>
            <a:r>
              <a:t>A 9-Stage Modular Compiler Pipeline with Scoped Type Checking,</a:t>
            </a:r>
            <a:br/>
            <a:r>
              <a:t>Three-Address Code Lowering, Constant Folding, and Pinpoint Educational Diagnostics</a:t>
            </a:r>
          </a:p>
          <a:p>
            <a:pPr>
              <a:spcBef>
                <a:spcPts val="2400"/>
              </a:spcBef>
              <a:defRPr sz="1500" b="1">
                <a:solidFill>
                  <a:srgbClr val="2563EB"/>
                </a:solidFill>
              </a:defRPr>
            </a:pPr>
            <a:r>
              <a:t>Review 3 Final Presentation &amp; Project Evaluation</a:t>
            </a:r>
          </a:p>
          <a:p>
            <a:pPr>
              <a:spcBef>
                <a:spcPts val="600"/>
              </a:spcBef>
              <a:defRPr sz="1300">
                <a:solidFill>
                  <a:srgbClr val="475569"/>
                </a:solidFill>
              </a:defRPr>
            </a:pPr>
            <a:r>
              <a:t>Author: Rishit Mittal   |   Language: C++20 Standard   |   Build: CMake &amp; CTest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Problem Statement &amp; Educational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The Problem with Traditional Compilers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Why beginners struggle with early programming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Cryptic Feedback: Industry compilers (early GCC, Bison) produce abstract syntax warnings ('syntax error before token') without intent.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Opaque 'Black Box' Pipelines: Students cannot inspect the transformations between source code, tokens, AST, symbol tables, and IR.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Misleading Error Spans: Parser errors often flag the line *after* a missing delimiter or mismatched symbol rather than the true cause.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Zero Actionable Guidance: Typical error logs explain what the parser rejected, but never explain *how* a student can fix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The EduLang Solution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Human-centered educational compiler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Stage-by-Stage Transparency: Complete CLI stage isolation via `tokens`, `ast`, `symbols`, `ir`, `target`, and `run` commands.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Exact Source Tracking: SourceSpan (start/end line and column) preserved from lexing through AST, TAC IR, and runtime VM.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Visual ASCII Carets: Highlights exact multi-character tokens in source context with clear `^^^^` underlines.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Educational Fix Hints: Every diagnostic pairs an error description with an actionable suggestion (e.g. `= hint: declare 'x' first`).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Project Objectives &amp; Technical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Frontend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Build a deterministic lexical scanner, recursive-descent parser, and strongly typed AST capturing exact coordinate spans.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2. Static Type &amp; Scope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603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Multi-level stack of symbol tables enforcing lexical block scoping, variable shadowing, and static typing (int and bool).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IR Lowering &amp;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Translate AST into Three-Address Code (TAC); apply constant folding optimization and record reduction metrics.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60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4. Code Generation &amp;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8463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Synthesize human-readable pseudo-assembly; simulate execution via TAC interpreter with runtime safety traps (division by zero).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EduLang Language Features &amp; Grammar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Supported Syntax Features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Strongly typed procedural language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Data Types: Signed 64-bit integers (`int`) and booleans (`bool`: `true`, `false`).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Variables &amp; Scope: `int x = 10;`, `x = x + 1;` with lexical block scoping `{ ... }`.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Arithmetic Operators: `+`, `-`, `*`, `/` with standard operator precedence.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Relational &amp; Equality: `&lt;`, `&lt;=`, `&gt;`, `&gt;=`, `==`, `!=` producing boolean results.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Logical Operators: `&amp;&amp;`, `||`, `!` with short-circuit and precedence rules.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Control Structures: `if (cond) { } else { }` and `while (cond) { }`.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• I/O Statement: `print(expression);` outputting integers or booleans.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Context-Free Grammar (EBNF)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Formal grammar parsed by Recursive Descent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Courier New"/>
              </a:defRPr>
            </a:pPr>
            <a:r>
              <a:t>Program        ::= Statement* EOF</a:t>
            </a:r>
            <a:br/>
            <a:r>
              <a:t>Statement      ::= Declaration | Assignment | PrintStmt</a:t>
            </a:r>
            <a:br/>
            <a:r>
              <a:t>                 | IfStmt | WhileStmt | BlockStmt</a:t>
            </a:r>
            <a:br/>
            <a:r>
              <a:t>Declaration    ::= "int" Identifier "=" Expression ";"</a:t>
            </a:r>
            <a:br/>
            <a:r>
              <a:t>Assignment     ::= Identifier "=" Expression ";"</a:t>
            </a:r>
            <a:br/>
            <a:r>
              <a:t>PrintStmt      ::= "print" "(" Expression ")" ";"</a:t>
            </a:r>
            <a:br/>
            <a:r>
              <a:t>IfStmt         ::= "if" "(" Expr ")" Stmt ("else" Stmt)?</a:t>
            </a:r>
            <a:br/>
            <a:r>
              <a:t>WhileStmt      ::= "while" "(" Expr ")" Stmt</a:t>
            </a:r>
            <a:br/>
            <a:r>
              <a:t>BlockStmt      ::= "{" Statement* "}"</a:t>
            </a:r>
            <a:br/>
            <a:r>
              <a:t>Expression     ::= LogicalOr</a:t>
            </a:r>
            <a:br/>
            <a:r>
              <a:t>LogicalOr      ::= LogicalAnd ("||" LogicalAnd)*</a:t>
            </a:r>
            <a:br/>
            <a:r>
              <a:t>LogicalAnd     ::= Equality ("&amp;&amp;" Equality)*</a:t>
            </a:r>
            <a:br/>
            <a:r>
              <a:t>Equality       ::= Relational (("==" | "!=") Relational)*</a:t>
            </a:r>
            <a:br/>
            <a:r>
              <a:t>Relational     ::= Additive (("&lt;" | "&lt;=" | "&gt;" | "&gt;=") Additive)*</a:t>
            </a:r>
            <a:br/>
            <a:r>
              <a:t>Additive       ::= Multiplicative (("+" | "-") Multiplicative)*</a:t>
            </a:r>
            <a:br/>
            <a:r>
              <a:t>Multiplicative ::= Unary (("*" | "/") Unary)*</a:t>
            </a:r>
            <a:br/>
            <a:r>
              <a:t>Unary          ::= ("-" | "!") Unary | Primary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Compiler Architecture &amp; End-to-End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1. Lexer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Scans UTF-8 source into Token stream with SourceSpan (line:col).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8745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2. 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Recursive descent with precedence climbing creates typed 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3. 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Clean hierarchy of expressions &amp; statements preserving spans.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8745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4. Semantic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4688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Validates types, scope bindings, conditions, declarations.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5. Scoped Symbol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Stack of hash-maps managing nested block scope shadowing.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931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41605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6. TAC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7548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Lowers AST to Three-Address Code with virtual temporaries.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7. 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Performs constant folding and tracks instruction reduction.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393192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1605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8. CodeGen / 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548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Emits pseudo-assembly; interpreter executes TAC instructions.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Frontend Engineering: Lexer, Parser &amp; Type Safety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Lexer &amp; Parser Implementation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Robust syntax analysis with operator precedence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Lexer (lexer.cpp): Deterministic character scanning with lookahead (`peek()`, `peek_next()`). Handles comments (`//`, `/* */`) and 64-bit integer overflow detection.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SourceSpan Model: Every Token and AST node records `start` and `end` (line, col) for pinpoint diagnostic rendering.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Precedence Climbing: 8 distinct precedence tiers ensure correct operator grouping without deep AST recursion overhead.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AST Hierarchy: Polymorphic nodes (`DeclarationStmt`, `AssignmentStmt`, `IfStmt`, `WhileStmt`, `BinaryExpr`, `UnaryExpr`).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Semantic Analysis &amp; Type Checking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Compile-time validation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• Strict Static Typing: `int` and `bool` types are strictly separated; implicit coercion is disallowed to prevent subtle errors.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• Type Safety Rules Enforced: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  - Arithmetic (`+`, `-`, `*`, `/`): requires `int` operands, returns `int`.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  - Relational (`&lt;`, `&lt;=`, `&gt;`, `&gt;=`): requires `int`, returns `bool`.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  - Equality (`==`, `!=`): requires operands of identical type.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  - Logical (`&amp;&amp;`, `||`, `!`): requires `bool` operands, returns `bool`.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  - Control Flow: `if` and `while` conditions must strictly evaluate to `bool`.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  - Assignment: rhs expression type must strictly match declared variable 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Symbol Table &amp; Lexical Scope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Stack-Based Scoping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Multi-level symbol table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Data Structure: `std::vector&lt;std::unordered_map&lt;std::string, Symbol&gt;&gt;` representing active lexical scopes.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enter_scope(): Pushes a new empty map when parsing enters `{` block.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exit_scope(): Pops the innermost map when closing `}` is reached.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lookup(name): Searches from innermost (top) to outermost (global) scope, correctly resolving visible identifier bindings.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Redeclaration Detection: `is_declared_in_current_scope()` prevents redeclaring a variable in the same block, while allowing valid nested shadowing.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Lexical Shadowing &amp; Disambiguation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Preserving outer variable state across scopes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Courier New"/>
              </a:defRPr>
            </a:pPr>
            <a:r>
              <a:t>// EduLang Lexical Shadowing Example</a:t>
            </a:r>
            <a:br/>
            <a:r>
              <a:t>int x = 10;</a:t>
            </a:r>
            <a:br/>
            <a:r>
              <a:t>{</a:t>
            </a:r>
            <a:br/>
            <a:r>
              <a:t>    int x = 20;     // Shadowed: mapped to storage 'x$1'</a:t>
            </a:r>
            <a:br/>
            <a:r>
              <a:t>    x = x + 1;</a:t>
            </a:r>
            <a:br/>
            <a:r>
              <a:t>    print(x);       // Outputs: 21</a:t>
            </a:r>
            <a:br/>
            <a:r>
              <a:t>}</a:t>
            </a:r>
            <a:br/>
            <a:r>
              <a:t>print(x);           // Outputs: 10 (Outer 'x' preserved!)</a:t>
            </a:r>
            <a:br/>
            <a:br/>
            <a:r>
              <a:t>TAC Storage Disambiguation:</a:t>
            </a:r>
            <a:br/>
            <a:r>
              <a:t>  0: load_const t0, 10</a:t>
            </a:r>
            <a:br/>
            <a:r>
              <a:t>  1: store_name x, t0</a:t>
            </a:r>
            <a:br/>
            <a:r>
              <a:t>  2: load_const t1, 20</a:t>
            </a:r>
            <a:br/>
            <a:r>
              <a:t>  3: store_name x$1, t1      &lt;-- Unique storage name</a:t>
            </a:r>
            <a:br/>
            <a:r>
              <a:t>  4: load_name t2, x$1</a:t>
            </a:r>
            <a:br/>
            <a:r>
              <a:t>  5: add t3, t2, 1</a:t>
            </a:r>
            <a:br/>
            <a:r>
              <a:t>  6: store_name x$1, t3</a:t>
            </a:r>
            <a:br/>
            <a:r>
              <a:t>  7: print t3</a:t>
            </a:r>
            <a:br/>
            <a:r>
              <a:t>  8: load_name t4, x         &lt;-- Global variable read</a:t>
            </a:r>
            <a:br/>
            <a:r>
              <a:t>  9: print t4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Intermediate Code Generation &amp; Optimization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Three-Address Code (TAC) Lowering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Linearized machine-independent intermediate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Atomic Instructions: Operations restricted to at most one operator and two operands using virtual temporaries (`t0`, `t1`, ...).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Linearized Control Flow: Structured `if` and `while` lowered into `jump_if_false` and unconditional `jump` with symbolic labels (`L0`, `L1`).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OpCodes Supported: `LoadConst`, `LoadBool`, `LoadName`, `StoreName`, `Add`, `Sub`, `Mul`, `Div`, `Neg`, `Not`, `Eq`, `Ne`, `Lt`, `Le`, `Gt`, `Ge`, `And`, `Or`, `Jump`, `JumpIfFalse`, `Label`, `Print`.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Preserved Spans: Each TAC instruction retains source span for runtime error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Constant Folding Optimization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Compile-time evaluation and instruction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Pass Algorithm: Tracks compile-time constants bound to temporaries within linear basic blocks.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Constant Folding: When an arithmetic or boolean operation has known constant operands, pre-computes the result at compile time (e.g. `10 + 2 -&gt; 12`).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Control Flow Safety: Labels and branch instructions immediately flush the constant map to guarantee safety across merge points.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Tracked Metrics: Records `instructions_before`, `instructions_after`, `constants_folded`, and constant-folding proportion (5.9%).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Target Code Generation &amp; Execution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Target Pseudo-Assembly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Readable assembly synthesis (target/code_generator.cpp)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Courier New"/>
              </a:defRPr>
            </a:pPr>
            <a:r>
              <a:t>; EduLang Target Pseudo-Assembly Output</a:t>
            </a:r>
            <a:br/>
            <a:r>
              <a:t>; Program: int a = 10; int b = 20; print(a + b);</a:t>
            </a:r>
            <a:br/>
            <a:br/>
            <a:r>
              <a:t>MOV t0, #10          ; Load immediate 10 into t0</a:t>
            </a:r>
            <a:br/>
            <a:r>
              <a:t>MOV [a], t0          ; Store t0 into variable 'a'</a:t>
            </a:r>
            <a:br/>
            <a:r>
              <a:t>MOV t1, #20          ; Load immediate 20 into t1</a:t>
            </a:r>
            <a:br/>
            <a:r>
              <a:t>MOV [b], t1          ; Store t1 into variable 'b'</a:t>
            </a:r>
            <a:br/>
            <a:r>
              <a:t>MOV t2, [a]          ; Load variable 'a' into t2</a:t>
            </a:r>
            <a:br/>
            <a:r>
              <a:t>MOV t3, [b]          ; Load variable 'b' into t3</a:t>
            </a:r>
            <a:br/>
            <a:r>
              <a:t>ADD t4, t2, t3       ; Add t2 and t3 into t4</a:t>
            </a:r>
            <a:br/>
            <a:r>
              <a:t>PRINT t4             ; Output t4 to standard stream</a:t>
            </a:r>
            <a:br/>
            <a:br/>
            <a:r>
              <a:t>Note: Clearly designated as pseudo-assembly</a:t>
            </a:r>
            <a:br/>
            <a:r>
              <a:t>for educational analysis, not native machine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Virtual Machine Interpreter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Runtime execution &amp; safety checks (runtime/interpreter.cpp)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• Linear VM Execution: Direct interpreter loop over optimized TAC instruction vector using instruction pointer (IP).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• Environment Map: Evaluates virtual registers (`t0`, `t1`) and named variable storage in local memory.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• Runtime Error Trapping: Intercepts arithmetic division by zero; retrieves the origin `SourceSpan` and emits an educational diagnostic: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  1:7: error: division by zero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    | print(10 / 0);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    |       ^^^^^^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    = hint: the divisor evaluated to 0 at runtime. Ensure the denominator is non-zero.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</a:defRPr>
            </a:pPr>
            <a:r>
              <a:t>• Deterministic Output: Returns clean exit codes (0 for success, 1 for runtime error).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Educational Error Diagnostics &amp; Test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Pinpoint Educational Diagnostics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Rust/Clang-inspired developer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1. Lexical Error (Illegal character):</a:t>
            </a:r>
            <a:br/>
            <a:r>
              <a:t>examples/errors/lexical_error.edu:2:1: error: unexpected character '@'</a:t>
            </a:r>
            <a:br/>
            <a:r>
              <a:t>  | @</a:t>
            </a:r>
            <a:br/>
            <a:r>
              <a:t>  | ^</a:t>
            </a:r>
            <a:br/>
            <a:r>
              <a:t>  = hint: remove this character; EduLang syntax consists of keywords,</a:t>
            </a:r>
            <a:br/>
            <a:r>
              <a:t>    identifiers, numbers, and supported operators.</a:t>
            </a:r>
            <a:br/>
            <a:br/>
            <a:r>
              <a:t>2. Semantic Error (Undeclared variable):</a:t>
            </a:r>
            <a:br/>
            <a:r>
              <a:t>examples/errors/semantic_error.edu:1:7: error: undeclared variable 'val'</a:t>
            </a:r>
            <a:br/>
            <a:r>
              <a:t>  | print(val);</a:t>
            </a:r>
            <a:br/>
            <a:r>
              <a:t>  |       ^^^</a:t>
            </a:r>
            <a:br/>
            <a:r>
              <a:t>  = hint: declare 'val' first (e.g., 'int val = 0;').</a:t>
            </a:r>
            <a:br/>
            <a:br/>
            <a:r>
              <a:t>3. Semantic Error (Type mismatch):</a:t>
            </a:r>
            <a:br/>
            <a:r>
              <a:t>examples/errors/type_mismatch.edu:2:9: error: declaration requires int</a:t>
            </a:r>
            <a:br/>
            <a:r>
              <a:t>  | int b = true;</a:t>
            </a:r>
            <a:br/>
            <a:r>
              <a:t>  |         ^^^^</a:t>
            </a:r>
            <a:br/>
            <a:r>
              <a:t>  = hint: variable is typed 'int', but assigned expression is 'bool'.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46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7452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Verification &amp; Test Suite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31/31 Unit Tests &amp; 6/6 CTest Targets Passing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46888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• 100% CTest Pass Rate: All 6 registered CMake test targets pass in 1.12s.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• 31 Unit Tests in `tests/test_main.cpp`: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Valid programs, expressions, arithmetic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Lexical, syntax, and semantic error detection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Undeclared &amp; duplicate declaration errors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Type mismatches (`int + bool`, `!int`, etc.)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Lexical block scoping &amp; nested variable shadowing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Logical short-circuiting (`&amp;&amp;`, `||`)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Checked 64-bit integer arithmetic &amp; overflow traps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Control flow (`if`, `else`, nested `while`)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Constant folding &amp; optimization statistics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Runtime division-by-zero trapping with carets</a:t>
            </a:r>
          </a:p>
          <a:p>
            <a:pPr>
              <a:spcBef>
                <a:spcPts val="400"/>
              </a:spcBef>
              <a:defRPr sz="1150">
                <a:solidFill>
                  <a:srgbClr val="475569"/>
                </a:solidFill>
              </a:defRPr>
            </a:pPr>
            <a:r>
              <a:t>  • Educational hints (`= hint: ...`)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Performance Evaluation &amp; Known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Performance Profiling (`compiler bench`)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Sub-millisecond pipeline execution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urier New"/>
              </a:defRPr>
            </a:pPr>
            <a:r>
              <a:t>High-Resolution Microsecond Stage Latencies:</a:t>
            </a:r>
            <a:br/>
            <a:r>
              <a:t>(Measured on examples/arithmetic_control.edu)</a:t>
            </a:r>
            <a:br/>
            <a:br/>
            <a:r>
              <a:t>Pipeline Stage                  Time (us)     % Total</a:t>
            </a:r>
            <a:br/>
            <a:r>
              <a:t>-----------------------------------------------------</a:t>
            </a:r>
            <a:br/>
            <a:r>
              <a:t>1. Lexical Analysis                34.00 us    26.9%</a:t>
            </a:r>
            <a:br/>
            <a:r>
              <a:t>2. Syntax Parsing &amp; AST             9.92 us     7.9%</a:t>
            </a:r>
            <a:br/>
            <a:r>
              <a:t>3. Semantic Analysis &amp; Scopes      16.54 us    13.1%</a:t>
            </a:r>
            <a:br/>
            <a:r>
              <a:t>4. TAC IR Generation               23.88 us    18.9%</a:t>
            </a:r>
            <a:br/>
            <a:r>
              <a:t>5. Optimization Pass               22.79 us    18.1%</a:t>
            </a:r>
            <a:br/>
            <a:r>
              <a:t>6. Target Code Generation           5.88 us     4.7%</a:t>
            </a:r>
            <a:br/>
            <a:r>
              <a:t>7. Runtime Execution                9.79 us     7.8%</a:t>
            </a:r>
            <a:br/>
            <a:r>
              <a:t>=====================================================</a:t>
            </a:r>
            <a:br/>
            <a:r>
              <a:t>Total Pipeline Execution          126.29 us   100.0%</a:t>
            </a:r>
            <a:br/>
            <a:br/>
            <a:r>
              <a:t>Optimization Metrics:</a:t>
            </a:r>
            <a:br/>
            <a:r>
              <a:t>  • Unoptimized TAC: 17 instructions</a:t>
            </a:r>
            <a:br/>
            <a:r>
              <a:t>  • Optimized TAC:   17 instructions</a:t>
            </a:r>
            <a:br/>
            <a:r>
              <a:t>  • Constant Folded: 1 expression (5.9% of TAC instructions folded)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Current Technical Limitations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Preserving modular educational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Primitive Types Only: Restricted to signed 64-bit integers (`int`) and booleans (`bool`). Floating point numbers and strings are not yet supported.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No User Functions: Programs are structured scripts executed top-to-bottom. Call stacks and parameterized functions are left for future work.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Target is Pseudo-Assembly: Outputs readable pseudo-assembly rather than binary ELF/Mach-O machine code.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• Single-Pass Optimization: Focuses strictly on compile-time constant folding; does not currently perform full SSA-form dead-code elimination (DCE) or common subexpression elimination (CSE).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BCSE307P • COMPILER DESIGN LABORATORY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Conclusion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Review 3 &amp; Full Project Goals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Complete Compiler Pipeline: Successfully constructed all 9 stages from source scanning to target assembly and runtime execution in modern C++20.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Pedagogical Innovation: Solved the black-box problem by providing stage-by-stage CLI inspection and educational carets with fix hints.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Full Static &amp; Runtime Rigor: Strict type checking, scope shadowing, division-by-zero traps, and constant folding optimization.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Industrial Verification: 100% CTest pass rate (27 unit tests, 5 test targets, clean build with 0 warnings).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2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Future Scope &amp; Extensions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</a:defRPr>
            </a:pPr>
            <a:r>
              <a:t>Roadmap for future compiler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User-Defined Functions: Add function prototypes, parameters, return types, and call stack activation frames.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Composite Data Types: Implement 1D/2D arrays with compile-time index bounds checking.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String &amp; Float Support: Expand lexer, parser, and semantic analyzer to handle IEEE-754 floats and string literals.</a:t>
            </a:r>
          </a:p>
          <a:p>
            <a:pPr>
              <a:spcBef>
                <a:spcPts val="1200"/>
              </a:spcBef>
              <a:defRPr sz="1300">
                <a:solidFill>
                  <a:srgbClr val="475569"/>
                </a:solidFill>
              </a:defRPr>
            </a:pPr>
            <a:r>
              <a:t>• LLVM Backend Integration: Emit LLVM IR bitcode to target native x86_64 and ARM64 machine binaries with LLVM optimizations.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