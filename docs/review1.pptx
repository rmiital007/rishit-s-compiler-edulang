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Geist SemiBold"/>
      <p:regular r:id="rId201314"/>
    </p:embeddedFont>
    <p:embeddedFont>
      <p:font typeface="Geist Bold"/>
      <p:regular r:id="rId201315"/>
    </p:embeddedFont>
    <p:embeddedFont>
      <p:font typeface="Geist Black"/>
      <p:regular r:id="rId201316"/>
    </p:embeddedFont>
    <p:embeddedFont>
      <p:font typeface="Geist"/>
      <p:regular r:id="rId201317"/>
    </p:embeddedFont>
    <p:embeddedFont>
      <p:font typeface="Noto Serif Black"/>
      <p:regular r:id="rId201318"/>
    </p:embeddedFont>
    <p:embeddedFont>
      <p:font typeface="Noto Serif"/>
      <p:regular r:id="rId201319"/>
    </p:embeddedFont>
    <p:embeddedFont>
      <p:font typeface="Noto Serif SemiBold"/>
      <p:regular r:id="rId201320"/>
    </p:embeddedFont>
    <p:embeddedFont>
      <p:font typeface="Noto Serif Bold"/>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E5F9F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2235597"/>
            <a:ext cx="3341009" cy="287139"/>
          </a:xfrm>
          <a:prstGeom prst="roundRect">
            <a:avLst>
              <a:gd name="adj" fmla="val 47396"/>
            </a:avLst>
          </a:prstGeom>
          <a:solidFill>
            <a:srgbClr val="CCFFEF"/>
          </a:solidFill>
          <a:ln/>
        </p:spPr>
      </p:sp>
      <p:sp>
        <p:nvSpPr>
          <p:cNvPr id="3" name="Text 1"/>
          <p:cNvSpPr/>
          <p:nvPr/>
        </p:nvSpPr>
        <p:spPr>
          <a:xfrm>
            <a:off x="774879" y="2292251"/>
            <a:ext cx="3723785" cy="173831"/>
          </a:xfrm>
          <a:prstGeom prst="rect">
            <a:avLst/>
          </a:prstGeom>
          <a:noFill/>
          <a:ln/>
        </p:spPr>
        <p:txBody>
          <a:bodyPr wrap="none" lIns="0" tIns="0" rIns="0" bIns="0" rtlCol="0" anchor="t"/>
          <a:lstStyle/>
          <a:p>
            <a:pPr algn="l" indent="0" marL="0">
              <a:lnSpc>
                <a:spcPct val="96000"/>
              </a:lnSpc>
              <a:buNone/>
            </a:pPr>
            <a:r>
              <a:rPr lang="en-US" sz="1150" dirty="0">
                <a:solidFill>
                  <a:srgbClr val="4B4A4A"/>
                </a:solidFill>
                <a:latin typeface="Geist" pitchFamily="34" charset="0"/>
                <a:ea typeface="Geist" pitchFamily="34" charset="-122"/>
                <a:cs typeface="Geist" pitchFamily="34" charset="-120"/>
              </a:rPr>
              <a:t>COMPILER DESIGN LABORATORY · REVIEW 1</a:t>
            </a:r>
            <a:endParaRPr lang="en-US" sz="1150" dirty="0"/>
          </a:p>
        </p:txBody>
      </p:sp>
      <p:sp>
        <p:nvSpPr>
          <p:cNvPr id="4" name="Text 2"/>
          <p:cNvSpPr/>
          <p:nvPr/>
        </p:nvSpPr>
        <p:spPr>
          <a:xfrm>
            <a:off x="661475" y="25983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006747"/>
                </a:solidFill>
                <a:latin typeface="Noto Serif Bold" pitchFamily="34" charset="0"/>
                <a:ea typeface="Noto Serif Bold" pitchFamily="34" charset="-122"/>
                <a:cs typeface="Noto Serif Bold" pitchFamily="34" charset="-120"/>
              </a:rPr>
              <a:t>Project Proposal and Design Review</a:t>
            </a:r>
            <a:endParaRPr lang="en-US" sz="3700" dirty="0"/>
          </a:p>
        </p:txBody>
      </p:sp>
      <p:sp>
        <p:nvSpPr>
          <p:cNvPr id="5" name="Text 3"/>
          <p:cNvSpPr/>
          <p:nvPr/>
        </p:nvSpPr>
        <p:spPr>
          <a:xfrm>
            <a:off x="661475" y="3472458"/>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4B4A4A"/>
                </a:solidFill>
                <a:latin typeface="Geist" pitchFamily="34" charset="0"/>
                <a:ea typeface="Geist" pitchFamily="34" charset="-122"/>
                <a:cs typeface="Geist" pitchFamily="34" charset="-120"/>
              </a:rPr>
              <a:t>Making of a compiler</a:t>
            </a:r>
            <a:endParaRPr lang="en-US" sz="1450" dirty="0"/>
          </a:p>
        </p:txBody>
      </p:sp>
      <p:sp>
        <p:nvSpPr>
          <p:cNvPr id="6" name="Shape 4"/>
          <p:cNvSpPr/>
          <p:nvPr/>
        </p:nvSpPr>
        <p:spPr>
          <a:xfrm>
            <a:off x="661475" y="4034730"/>
            <a:ext cx="10868745" cy="25400"/>
          </a:xfrm>
          <a:prstGeom prst="roundRect">
            <a:avLst>
              <a:gd name="adj" fmla="val 49999"/>
            </a:avLst>
          </a:prstGeom>
          <a:solidFill>
            <a:srgbClr val="4B4A4A">
              <a:alpha val="50000"/>
            </a:srgbClr>
          </a:solidFill>
          <a:ln/>
        </p:spPr>
      </p:sp>
      <p:sp>
        <p:nvSpPr>
          <p:cNvPr id="7" name="Text 5"/>
          <p:cNvSpPr/>
          <p:nvPr/>
        </p:nvSpPr>
        <p:spPr>
          <a:xfrm>
            <a:off x="661475" y="4319984"/>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4B4A4A"/>
                </a:solidFill>
                <a:latin typeface="Geist" pitchFamily="34" charset="0"/>
                <a:ea typeface="Geist" pitchFamily="34" charset="-122"/>
                <a:cs typeface="Geist" pitchFamily="34" charset="-120"/>
              </a:rPr>
              <a:t>Submitted by Rishit Mittal · Reg. No. 24BCT0068 · B.Tech Computer Science(IoT) · Faculty: Dr. </a:t>
            </a:r>
            <a:pPr algn="l" indent="0" marL="0">
              <a:lnSpc>
                <a:spcPct val="133000"/>
              </a:lnSpc>
              <a:buNone/>
            </a:pPr>
            <a:r>
              <a:rPr lang="en-US" sz="1450" b="1" dirty="0">
                <a:solidFill>
                  <a:srgbClr val="4B4A4A"/>
                </a:solidFill>
                <a:latin typeface="Geist Bold" pitchFamily="34" charset="0"/>
                <a:ea typeface="Geist Bold" pitchFamily="34" charset="-122"/>
                <a:cs typeface="Geist Bold" pitchFamily="34" charset="-120"/>
              </a:rPr>
              <a:t>RANJITH KUMAR S</a:t>
            </a:r>
            <a:pPr algn="l" indent="0" marL="0">
              <a:lnSpc>
                <a:spcPct val="133000"/>
              </a:lnSpc>
              <a:buNone/>
            </a:pPr>
            <a:r>
              <a:rPr lang="en-US" sz="1450" dirty="0">
                <a:solidFill>
                  <a:srgbClr val="4B4A4A"/>
                </a:solidFill>
                <a:latin typeface="Geist" pitchFamily="34" charset="0"/>
                <a:ea typeface="Geist" pitchFamily="34" charset="-122"/>
                <a:cs typeface="Geist" pitchFamily="34" charset="-120"/>
              </a:rPr>
              <a:t>  · VIT Vellore</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1345803"/>
            <a:ext cx="986408" cy="287139"/>
          </a:xfrm>
          <a:prstGeom prst="roundRect">
            <a:avLst>
              <a:gd name="adj" fmla="val 47396"/>
            </a:avLst>
          </a:prstGeom>
          <a:noFill/>
          <a:ln w="6350">
            <a:solidFill>
              <a:srgbClr val="006747"/>
            </a:solidFill>
            <a:prstDash val="solid"/>
          </a:ln>
        </p:spPr>
      </p:sp>
      <p:sp>
        <p:nvSpPr>
          <p:cNvPr id="3" name="Text 1"/>
          <p:cNvSpPr/>
          <p:nvPr/>
        </p:nvSpPr>
        <p:spPr>
          <a:xfrm>
            <a:off x="774879" y="1402457"/>
            <a:ext cx="1369184" cy="173831"/>
          </a:xfrm>
          <a:prstGeom prst="rect">
            <a:avLst/>
          </a:prstGeom>
          <a:noFill/>
          <a:ln/>
        </p:spPr>
        <p:txBody>
          <a:bodyPr wrap="none" lIns="0" tIns="0" rIns="0" bIns="0" rtlCol="0" anchor="t"/>
          <a:lstStyle/>
          <a:p>
            <a:pPr algn="l" indent="0" marL="0">
              <a:lnSpc>
                <a:spcPct val="96000"/>
              </a:lnSpc>
              <a:buNone/>
            </a:pPr>
            <a:r>
              <a:rPr lang="en-US" sz="1150" dirty="0">
                <a:solidFill>
                  <a:srgbClr val="006747"/>
                </a:solidFill>
                <a:latin typeface="Geist" pitchFamily="34" charset="0"/>
                <a:ea typeface="Geist" pitchFamily="34" charset="-122"/>
                <a:cs typeface="Geist" pitchFamily="34" charset="-120"/>
              </a:rPr>
              <a:t>OVERVIEW</a:t>
            </a:r>
            <a:endParaRPr lang="en-US" sz="1150" dirty="0"/>
          </a:p>
        </p:txBody>
      </p:sp>
      <p:sp>
        <p:nvSpPr>
          <p:cNvPr id="4" name="Text 2"/>
          <p:cNvSpPr/>
          <p:nvPr/>
        </p:nvSpPr>
        <p:spPr>
          <a:xfrm>
            <a:off x="661475" y="17085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006747"/>
                </a:solidFill>
                <a:latin typeface="Noto Serif Bold" pitchFamily="34" charset="0"/>
                <a:ea typeface="Noto Serif Bold" pitchFamily="34" charset="-122"/>
                <a:cs typeface="Noto Serif Bold" pitchFamily="34" charset="-120"/>
              </a:rPr>
              <a:t>Project Overview</a:t>
            </a:r>
            <a:endParaRPr lang="en-US" sz="3700" dirty="0"/>
          </a:p>
        </p:txBody>
      </p:sp>
      <p:sp>
        <p:nvSpPr>
          <p:cNvPr id="5" name="Shape 3"/>
          <p:cNvSpPr/>
          <p:nvPr/>
        </p:nvSpPr>
        <p:spPr>
          <a:xfrm>
            <a:off x="525350" y="2582664"/>
            <a:ext cx="5476043" cy="2929533"/>
          </a:xfrm>
          <a:prstGeom prst="roundRect">
            <a:avLst>
              <a:gd name="adj" fmla="val 9291"/>
            </a:avLst>
          </a:prstGeom>
          <a:solidFill>
            <a:srgbClr val="111A23">
              <a:alpha val="95000"/>
            </a:srgbClr>
          </a:solidFill>
          <a:ln/>
        </p:spPr>
      </p:sp>
      <p:sp>
        <p:nvSpPr>
          <p:cNvPr id="6" name="Text 4"/>
          <p:cNvSpPr/>
          <p:nvPr/>
        </p:nvSpPr>
        <p:spPr>
          <a:xfrm>
            <a:off x="714357" y="2752725"/>
            <a:ext cx="5098029" cy="2589411"/>
          </a:xfrm>
          <a:prstGeom prst="rect">
            <a:avLst/>
          </a:prstGeom>
          <a:noFill/>
          <a:ln/>
        </p:spPr>
        <p:txBody>
          <a:bodyPr wrap="square" lIns="0" tIns="0" rIns="0" bIns="0" rtlCol="0" anchor="t">
            <a:normAutofit/>
          </a:bodyPr>
          <a:lstStyle/>
          <a:p>
            <a:pPr algn="l" indent="0" marL="0">
              <a:lnSpc>
                <a:spcPct val="133000"/>
              </a:lnSpc>
              <a:spcAft>
                <a:spcPts val="1300"/>
              </a:spcAft>
              <a:buNone/>
            </a:pPr>
            <a:r>
              <a:rPr lang="en-US" sz="1450" dirty="0">
                <a:solidFill>
                  <a:srgbClr val="FFFFFF"/>
                </a:solidFill>
                <a:latin typeface="Geist" pitchFamily="34" charset="0"/>
                <a:ea typeface="Geist" pitchFamily="34" charset="-122"/>
                <a:cs typeface="Geist" pitchFamily="34" charset="-120"/>
              </a:rPr>
              <a:t>I’m building a custom programming language and compiler from scratch, and honestly, that’s what makes this project so exciting for me. I get to take the whole journey from source code all the way to execution.</a:t>
            </a:r>
            <a:endParaRPr lang="en-US" sz="1450" dirty="0"/>
          </a:p>
          <a:p>
            <a:pPr algn="l" indent="0" marL="0">
              <a:lnSpc>
                <a:spcPct val="133000"/>
              </a:lnSpc>
              <a:buNone/>
            </a:pPr>
            <a:r>
              <a:rPr lang="en-US" sz="1450" dirty="0">
                <a:solidFill>
                  <a:srgbClr val="FFFFFF"/>
                </a:solidFill>
                <a:latin typeface="Geist" pitchFamily="34" charset="0"/>
                <a:ea typeface="Geist" pitchFamily="34" charset="-122"/>
                <a:cs typeface="Geist" pitchFamily="34" charset="-120"/>
              </a:rPr>
              <a:t>What I really like is that it doesn’t feel like a black box. I can see every stage clearly, get helpful feedback when something breaks, and actually understand how all the pieces connect.</a:t>
            </a:r>
            <a:endParaRPr lang="en-US" sz="1450" dirty="0"/>
          </a:p>
        </p:txBody>
      </p:sp>
      <p:sp>
        <p:nvSpPr>
          <p:cNvPr id="7" name="Text 5"/>
          <p:cNvSpPr/>
          <p:nvPr/>
        </p:nvSpPr>
        <p:spPr>
          <a:xfrm>
            <a:off x="6332776" y="2752725"/>
            <a:ext cx="5203794" cy="1682155"/>
          </a:xfrm>
          <a:prstGeom prst="rect">
            <a:avLst/>
          </a:prstGeom>
          <a:noFill/>
          <a:ln/>
        </p:spPr>
        <p:txBody>
          <a:bodyPr wrap="square" lIns="0" tIns="0" rIns="0" bIns="0" rtlCol="0" anchor="t">
            <a:normAutofit/>
          </a:bodyPr>
          <a:lstStyle/>
          <a:p>
            <a:pPr algn="l" indent="0" marL="0">
              <a:lnSpc>
                <a:spcPct val="133000"/>
              </a:lnSpc>
              <a:spcAft>
                <a:spcPts val="1300"/>
              </a:spcAft>
              <a:buNone/>
            </a:pPr>
            <a:r>
              <a:rPr lang="en-US" sz="1450" dirty="0">
                <a:solidFill>
                  <a:srgbClr val="4B4A4A"/>
                </a:solidFill>
                <a:latin typeface="Geist" pitchFamily="34" charset="0"/>
                <a:ea typeface="Geist" pitchFamily="34" charset="-122"/>
                <a:cs typeface="Geist" pitchFamily="34" charset="-120"/>
              </a:rPr>
              <a:t>I chose compiler design because I’ve always wanted to see how code really becomes something a machine can run.</a:t>
            </a:r>
            <a:endParaRPr lang="en-US" sz="1450" dirty="0"/>
          </a:p>
          <a:p>
            <a:pPr algn="l" indent="0" marL="0">
              <a:lnSpc>
                <a:spcPct val="133000"/>
              </a:lnSpc>
              <a:buNone/>
            </a:pPr>
            <a:r>
              <a:rPr lang="en-US" sz="1450" dirty="0">
                <a:solidFill>
                  <a:srgbClr val="4B4A4A"/>
                </a:solidFill>
                <a:latin typeface="Geist" pitchFamily="34" charset="0"/>
                <a:ea typeface="Geist" pitchFamily="34" charset="-122"/>
                <a:cs typeface="Geist" pitchFamily="34" charset="-120"/>
              </a:rPr>
              <a:t>It also gives me a great way to experiment, test ideas, and learn the language-processing steps in a hands-on way while building something I can truly call my own.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1796951"/>
            <a:ext cx="1977083" cy="287139"/>
          </a:xfrm>
          <a:prstGeom prst="roundRect">
            <a:avLst>
              <a:gd name="adj" fmla="val 47396"/>
            </a:avLst>
          </a:prstGeom>
          <a:noFill/>
          <a:ln w="6350">
            <a:solidFill>
              <a:srgbClr val="006747"/>
            </a:solidFill>
            <a:prstDash val="solid"/>
          </a:ln>
        </p:spPr>
      </p:sp>
      <p:sp>
        <p:nvSpPr>
          <p:cNvPr id="3" name="Text 1"/>
          <p:cNvSpPr/>
          <p:nvPr/>
        </p:nvSpPr>
        <p:spPr>
          <a:xfrm>
            <a:off x="774879" y="1853605"/>
            <a:ext cx="2359859" cy="173831"/>
          </a:xfrm>
          <a:prstGeom prst="rect">
            <a:avLst/>
          </a:prstGeom>
          <a:noFill/>
          <a:ln/>
        </p:spPr>
        <p:txBody>
          <a:bodyPr wrap="none" lIns="0" tIns="0" rIns="0" bIns="0" rtlCol="0" anchor="t"/>
          <a:lstStyle/>
          <a:p>
            <a:pPr algn="l" indent="0" marL="0">
              <a:lnSpc>
                <a:spcPct val="96000"/>
              </a:lnSpc>
              <a:buNone/>
            </a:pPr>
            <a:r>
              <a:rPr lang="en-US" sz="1150" dirty="0">
                <a:solidFill>
                  <a:srgbClr val="006747"/>
                </a:solidFill>
                <a:latin typeface="Geist" pitchFamily="34" charset="0"/>
                <a:ea typeface="Geist" pitchFamily="34" charset="-122"/>
                <a:cs typeface="Geist" pitchFamily="34" charset="-120"/>
              </a:rPr>
              <a:t>PROBLEM &amp; MOTIVATION</a:t>
            </a:r>
            <a:endParaRPr lang="en-US" sz="1150" dirty="0"/>
          </a:p>
        </p:txBody>
      </p:sp>
      <p:sp>
        <p:nvSpPr>
          <p:cNvPr id="4" name="Text 2"/>
          <p:cNvSpPr/>
          <p:nvPr/>
        </p:nvSpPr>
        <p:spPr>
          <a:xfrm>
            <a:off x="661475" y="215969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006747"/>
                </a:solidFill>
                <a:latin typeface="Noto Serif Bold" pitchFamily="34" charset="0"/>
                <a:ea typeface="Noto Serif Bold" pitchFamily="34" charset="-122"/>
                <a:cs typeface="Noto Serif Bold" pitchFamily="34" charset="-120"/>
              </a:rPr>
              <a:t>Problem Statement &amp; Motivation</a:t>
            </a:r>
            <a:endParaRPr lang="en-US" sz="3700" dirty="0"/>
          </a:p>
        </p:txBody>
      </p:sp>
      <p:sp>
        <p:nvSpPr>
          <p:cNvPr id="5" name="Text 3"/>
          <p:cNvSpPr/>
          <p:nvPr/>
        </p:nvSpPr>
        <p:spPr>
          <a:xfrm>
            <a:off x="661475" y="3033812"/>
            <a:ext cx="10868745" cy="2027138"/>
          </a:xfrm>
          <a:prstGeom prst="rect">
            <a:avLst/>
          </a:prstGeom>
          <a:noFill/>
          <a:ln/>
        </p:spPr>
        <p:txBody>
          <a:bodyPr wrap="square" lIns="0" tIns="0" rIns="0" bIns="0" rtlCol="0" anchor="t">
            <a:normAutofit/>
          </a:bodyPr>
          <a:lstStyle/>
          <a:p>
            <a:pPr algn="l" indent="0" marL="0">
              <a:lnSpc>
                <a:spcPct val="133000"/>
              </a:lnSpc>
              <a:spcAft>
                <a:spcPts val="1650"/>
              </a:spcAft>
              <a:buNone/>
            </a:pPr>
            <a:r>
              <a:rPr lang="en-US" sz="1450" dirty="0">
                <a:solidFill>
                  <a:srgbClr val="4B4A4A"/>
                </a:solidFill>
                <a:latin typeface="Geist" pitchFamily="34" charset="0"/>
                <a:ea typeface="Geist" pitchFamily="34" charset="-122"/>
                <a:cs typeface="Geist" pitchFamily="34" charset="-120"/>
              </a:rPr>
              <a:t>A lot of language-processing tools feel like a complete black box: you write code, press run, and all the interesting steps disappear behind tokenising, parsing, and transformations you can’t actually see. That lack of visibility makes the whole process feel mysterious instead of understandable.</a:t>
            </a:r>
            <a:endParaRPr lang="en-US" sz="1450" dirty="0"/>
          </a:p>
          <a:p>
            <a:pPr algn="l" indent="0" marL="0">
              <a:lnSpc>
                <a:spcPct val="133000"/>
              </a:lnSpc>
              <a:buNone/>
            </a:pPr>
            <a:r>
              <a:rPr lang="en-US" sz="1450" dirty="0">
                <a:solidFill>
                  <a:srgbClr val="4B4A4A"/>
                </a:solidFill>
                <a:latin typeface="Geist" pitchFamily="34" charset="0"/>
                <a:ea typeface="Geist" pitchFamily="34" charset="-122"/>
                <a:cs typeface="Geist" pitchFamily="34" charset="-120"/>
              </a:rPr>
              <a:t>That’s a big reason I want to build my own compiler. I want something open, clear, and educational — a pipeline where every phase is visible, easy to follow, and genuinely useful for learning how programming languages are processed from start to finish.</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650974"/>
            <a:ext cx="831432" cy="210741"/>
          </a:xfrm>
          <a:prstGeom prst="roundRect">
            <a:avLst>
              <a:gd name="adj" fmla="val 47425"/>
            </a:avLst>
          </a:prstGeom>
          <a:noFill/>
          <a:ln w="6350">
            <a:solidFill>
              <a:srgbClr val="006747"/>
            </a:solidFill>
            <a:prstDash val="solid"/>
          </a:ln>
        </p:spPr>
      </p:sp>
      <p:sp>
        <p:nvSpPr>
          <p:cNvPr id="3" name="Text 1"/>
          <p:cNvSpPr/>
          <p:nvPr/>
        </p:nvSpPr>
        <p:spPr>
          <a:xfrm>
            <a:off x="744717" y="692547"/>
            <a:ext cx="1274532" cy="127595"/>
          </a:xfrm>
          <a:prstGeom prst="rect">
            <a:avLst/>
          </a:prstGeom>
          <a:noFill/>
          <a:ln/>
        </p:spPr>
        <p:txBody>
          <a:bodyPr wrap="none" lIns="0" tIns="0" rIns="0" bIns="0" rtlCol="0" anchor="t"/>
          <a:lstStyle/>
          <a:p>
            <a:pPr algn="l" indent="0" marL="0">
              <a:lnSpc>
                <a:spcPct val="96000"/>
              </a:lnSpc>
              <a:buNone/>
            </a:pPr>
            <a:r>
              <a:rPr lang="en-US" sz="850" dirty="0">
                <a:solidFill>
                  <a:srgbClr val="006747"/>
                </a:solidFill>
                <a:latin typeface="Geist" pitchFamily="34" charset="0"/>
                <a:ea typeface="Geist" pitchFamily="34" charset="-122"/>
                <a:cs typeface="Geist" pitchFamily="34" charset="-120"/>
              </a:rPr>
              <a:t>OBJECTIVES</a:t>
            </a:r>
            <a:endParaRPr lang="en-US" sz="850" dirty="0"/>
          </a:p>
        </p:txBody>
      </p:sp>
      <p:sp>
        <p:nvSpPr>
          <p:cNvPr id="4" name="Text 2"/>
          <p:cNvSpPr/>
          <p:nvPr/>
        </p:nvSpPr>
        <p:spPr>
          <a:xfrm>
            <a:off x="661475" y="902395"/>
            <a:ext cx="10868745" cy="433784"/>
          </a:xfrm>
          <a:prstGeom prst="rect">
            <a:avLst/>
          </a:prstGeom>
          <a:noFill/>
          <a:ln/>
        </p:spPr>
        <p:txBody>
          <a:bodyPr wrap="none" lIns="0" tIns="0" rIns="0" bIns="0" rtlCol="0" anchor="t"/>
          <a:lstStyle/>
          <a:p>
            <a:pPr algn="l" indent="0" marL="0">
              <a:lnSpc>
                <a:spcPct val="104000"/>
              </a:lnSpc>
              <a:buNone/>
            </a:pPr>
            <a:r>
              <a:rPr lang="en-US" sz="2700" b="1" dirty="0">
                <a:solidFill>
                  <a:srgbClr val="006747"/>
                </a:solidFill>
                <a:latin typeface="Noto Serif Bold" pitchFamily="34" charset="0"/>
                <a:ea typeface="Noto Serif Bold" pitchFamily="34" charset="-122"/>
                <a:cs typeface="Noto Serif Bold" pitchFamily="34" charset="-120"/>
              </a:rPr>
              <a:t>Project Objectives</a:t>
            </a:r>
            <a:endParaRPr lang="en-US" sz="27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489075"/>
            <a:ext cx="10868745" cy="832842"/>
          </a:xfrm>
          <a:prstGeom prst="rect">
            <a:avLst/>
          </a:prstGeom>
        </p:spPr>
      </p:pic>
      <p:sp>
        <p:nvSpPr>
          <p:cNvPr id="6" name="Text 3"/>
          <p:cNvSpPr/>
          <p:nvPr/>
        </p:nvSpPr>
        <p:spPr>
          <a:xfrm>
            <a:off x="850879" y="1775321"/>
            <a:ext cx="208156" cy="260251"/>
          </a:xfrm>
          <a:prstGeom prst="rect">
            <a:avLst/>
          </a:prstGeom>
          <a:noFill/>
          <a:ln/>
        </p:spPr>
        <p:txBody>
          <a:bodyPr wrap="none" lIns="0" tIns="0" rIns="0" bIns="0" rtlCol="0" anchor="ctr"/>
          <a:lstStyle/>
          <a:p>
            <a:pPr algn="ctr" indent="0" marL="0">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1</a:t>
            </a:r>
            <a:endParaRPr lang="en-US" sz="1600" dirty="0"/>
          </a:p>
        </p:txBody>
      </p:sp>
      <p:sp>
        <p:nvSpPr>
          <p:cNvPr id="7" name="Text 4"/>
          <p:cNvSpPr/>
          <p:nvPr/>
        </p:nvSpPr>
        <p:spPr>
          <a:xfrm>
            <a:off x="1337634" y="1646932"/>
            <a:ext cx="10034733" cy="216892"/>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Design a Language</a:t>
            </a:r>
            <a:endParaRPr lang="en-US" sz="1350" dirty="0"/>
          </a:p>
        </p:txBody>
      </p:sp>
      <p:sp>
        <p:nvSpPr>
          <p:cNvPr id="8" name="Text 5"/>
          <p:cNvSpPr/>
          <p:nvPr/>
        </p:nvSpPr>
        <p:spPr>
          <a:xfrm>
            <a:off x="1337634" y="1924943"/>
            <a:ext cx="10034733" cy="192584"/>
          </a:xfrm>
          <a:prstGeom prst="rect">
            <a:avLst/>
          </a:prstGeom>
          <a:noFill/>
          <a:ln/>
        </p:spPr>
        <p:txBody>
          <a:bodyPr wrap="none" lIns="0" tIns="0" rIns="0" bIns="0" rtlCol="0" anchor="t"/>
          <a:lstStyle/>
          <a:p>
            <a:pPr algn="l" indent="0" marL="0">
              <a:lnSpc>
                <a:spcPct val="116000"/>
              </a:lnSpc>
              <a:buNone/>
            </a:pPr>
            <a:r>
              <a:rPr lang="en-US" sz="1050" dirty="0">
                <a:solidFill>
                  <a:srgbClr val="4B4A4A"/>
                </a:solidFill>
                <a:latin typeface="Geist" pitchFamily="34" charset="0"/>
                <a:ea typeface="Geist" pitchFamily="34" charset="-122"/>
                <a:cs typeface="Geist" pitchFamily="34" charset="-120"/>
              </a:rPr>
              <a:t>I want to shape a small custom language that feels intuitive and fun to use — something I’d actually enjoy picking up, with syntax that clicks quickly.</a:t>
            </a:r>
            <a:endParaRPr lang="en-US" sz="10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423815"/>
            <a:ext cx="10868745" cy="832842"/>
          </a:xfrm>
          <a:prstGeom prst="rect">
            <a:avLst/>
          </a:prstGeom>
        </p:spPr>
      </p:pic>
      <p:sp>
        <p:nvSpPr>
          <p:cNvPr id="10" name="Text 6"/>
          <p:cNvSpPr/>
          <p:nvPr/>
        </p:nvSpPr>
        <p:spPr>
          <a:xfrm>
            <a:off x="850879" y="2710061"/>
            <a:ext cx="208156" cy="260251"/>
          </a:xfrm>
          <a:prstGeom prst="rect">
            <a:avLst/>
          </a:prstGeom>
          <a:noFill/>
          <a:ln/>
        </p:spPr>
        <p:txBody>
          <a:bodyPr wrap="none" lIns="0" tIns="0" rIns="0" bIns="0" rtlCol="0" anchor="ctr"/>
          <a:lstStyle/>
          <a:p>
            <a:pPr algn="ctr" indent="0" marL="0">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2</a:t>
            </a:r>
            <a:endParaRPr lang="en-US" sz="1600" dirty="0"/>
          </a:p>
        </p:txBody>
      </p:sp>
      <p:sp>
        <p:nvSpPr>
          <p:cNvPr id="11" name="Text 7"/>
          <p:cNvSpPr/>
          <p:nvPr/>
        </p:nvSpPr>
        <p:spPr>
          <a:xfrm>
            <a:off x="1337634" y="2581672"/>
            <a:ext cx="10034733" cy="216892"/>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Build the Language Reader</a:t>
            </a:r>
            <a:endParaRPr lang="en-US" sz="1350" dirty="0"/>
          </a:p>
        </p:txBody>
      </p:sp>
      <p:sp>
        <p:nvSpPr>
          <p:cNvPr id="12" name="Text 8"/>
          <p:cNvSpPr/>
          <p:nvPr/>
        </p:nvSpPr>
        <p:spPr>
          <a:xfrm>
            <a:off x="1337634" y="2859683"/>
            <a:ext cx="10034733" cy="192584"/>
          </a:xfrm>
          <a:prstGeom prst="rect">
            <a:avLst/>
          </a:prstGeom>
          <a:noFill/>
          <a:ln/>
        </p:spPr>
        <p:txBody>
          <a:bodyPr wrap="none" lIns="0" tIns="0" rIns="0" bIns="0" rtlCol="0" anchor="t"/>
          <a:lstStyle/>
          <a:p>
            <a:pPr algn="l" indent="0" marL="0">
              <a:lnSpc>
                <a:spcPct val="116000"/>
              </a:lnSpc>
              <a:buNone/>
            </a:pPr>
            <a:r>
              <a:rPr lang="en-US" sz="1050" dirty="0">
                <a:solidFill>
                  <a:srgbClr val="4B4A4A"/>
                </a:solidFill>
                <a:latin typeface="Geist" pitchFamily="34" charset="0"/>
                <a:ea typeface="Geist" pitchFamily="34" charset="-122"/>
                <a:cs typeface="Geist" pitchFamily="34" charset="-120"/>
              </a:rPr>
              <a:t>I’m excited to build the lexer and parser so I can watch source code get broken down and turned into a clean Abstract Syntax Tree (AST), step by step.</a:t>
            </a:r>
            <a:endParaRPr lang="en-US" sz="10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358555"/>
            <a:ext cx="10868745" cy="832842"/>
          </a:xfrm>
          <a:prstGeom prst="rect">
            <a:avLst/>
          </a:prstGeom>
        </p:spPr>
      </p:pic>
      <p:sp>
        <p:nvSpPr>
          <p:cNvPr id="14" name="Text 9"/>
          <p:cNvSpPr/>
          <p:nvPr/>
        </p:nvSpPr>
        <p:spPr>
          <a:xfrm>
            <a:off x="850879" y="3644801"/>
            <a:ext cx="208156" cy="260251"/>
          </a:xfrm>
          <a:prstGeom prst="rect">
            <a:avLst/>
          </a:prstGeom>
          <a:noFill/>
          <a:ln/>
        </p:spPr>
        <p:txBody>
          <a:bodyPr wrap="none" lIns="0" tIns="0" rIns="0" bIns="0" rtlCol="0" anchor="ctr"/>
          <a:lstStyle/>
          <a:p>
            <a:pPr algn="ctr" indent="0" marL="0">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3</a:t>
            </a:r>
            <a:endParaRPr lang="en-US" sz="1600" dirty="0"/>
          </a:p>
        </p:txBody>
      </p:sp>
      <p:sp>
        <p:nvSpPr>
          <p:cNvPr id="15" name="Text 10"/>
          <p:cNvSpPr/>
          <p:nvPr/>
        </p:nvSpPr>
        <p:spPr>
          <a:xfrm>
            <a:off x="1337634" y="3516412"/>
            <a:ext cx="10034733" cy="216892"/>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Make It Meaningful</a:t>
            </a:r>
            <a:endParaRPr lang="en-US" sz="1350" dirty="0"/>
          </a:p>
        </p:txBody>
      </p:sp>
      <p:sp>
        <p:nvSpPr>
          <p:cNvPr id="16" name="Text 11"/>
          <p:cNvSpPr/>
          <p:nvPr/>
        </p:nvSpPr>
        <p:spPr>
          <a:xfrm>
            <a:off x="1337634" y="3794423"/>
            <a:ext cx="10034733" cy="192584"/>
          </a:xfrm>
          <a:prstGeom prst="rect">
            <a:avLst/>
          </a:prstGeom>
          <a:noFill/>
          <a:ln/>
        </p:spPr>
        <p:txBody>
          <a:bodyPr wrap="none" lIns="0" tIns="0" rIns="0" bIns="0" rtlCol="0" anchor="t"/>
          <a:lstStyle/>
          <a:p>
            <a:pPr algn="l" indent="0" marL="0">
              <a:lnSpc>
                <a:spcPct val="116000"/>
              </a:lnSpc>
              <a:buNone/>
            </a:pPr>
            <a:r>
              <a:rPr lang="en-US" sz="1050" dirty="0">
                <a:solidFill>
                  <a:srgbClr val="4B4A4A"/>
                </a:solidFill>
                <a:latin typeface="Geist" pitchFamily="34" charset="0"/>
                <a:ea typeface="Geist" pitchFamily="34" charset="-122"/>
                <a:cs typeface="Geist" pitchFamily="34" charset="-120"/>
              </a:rPr>
              <a:t>I want to set up a symbol table and add semantic checks, including type checking, so the language starts to feel smart, reliable, and ready for real programs.</a:t>
            </a:r>
            <a:endParaRPr lang="en-US" sz="105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93295"/>
            <a:ext cx="10868745" cy="978892"/>
          </a:xfrm>
          <a:prstGeom prst="rect">
            <a:avLst/>
          </a:prstGeom>
        </p:spPr>
      </p:pic>
      <p:sp>
        <p:nvSpPr>
          <p:cNvPr id="18" name="Text 12"/>
          <p:cNvSpPr/>
          <p:nvPr/>
        </p:nvSpPr>
        <p:spPr>
          <a:xfrm>
            <a:off x="850879" y="4652566"/>
            <a:ext cx="208156" cy="260251"/>
          </a:xfrm>
          <a:prstGeom prst="rect">
            <a:avLst/>
          </a:prstGeom>
          <a:noFill/>
          <a:ln/>
        </p:spPr>
        <p:txBody>
          <a:bodyPr wrap="none" lIns="0" tIns="0" rIns="0" bIns="0" rtlCol="0" anchor="ctr"/>
          <a:lstStyle/>
          <a:p>
            <a:pPr algn="ctr" indent="0" marL="0">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4</a:t>
            </a:r>
            <a:endParaRPr lang="en-US" sz="1600" dirty="0"/>
          </a:p>
        </p:txBody>
      </p:sp>
      <p:sp>
        <p:nvSpPr>
          <p:cNvPr id="19" name="Text 13"/>
          <p:cNvSpPr/>
          <p:nvPr/>
        </p:nvSpPr>
        <p:spPr>
          <a:xfrm>
            <a:off x="1337634" y="4451152"/>
            <a:ext cx="10034733" cy="216892"/>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Bring It to Life</a:t>
            </a:r>
            <a:endParaRPr lang="en-US" sz="1350" dirty="0"/>
          </a:p>
        </p:txBody>
      </p:sp>
      <p:sp>
        <p:nvSpPr>
          <p:cNvPr id="20" name="Text 14"/>
          <p:cNvSpPr/>
          <p:nvPr/>
        </p:nvSpPr>
        <p:spPr>
          <a:xfrm>
            <a:off x="1337634" y="4729163"/>
            <a:ext cx="10034733" cy="385167"/>
          </a:xfrm>
          <a:prstGeom prst="rect">
            <a:avLst/>
          </a:prstGeom>
          <a:noFill/>
          <a:ln/>
        </p:spPr>
        <p:txBody>
          <a:bodyPr wrap="square" lIns="0" tIns="0" rIns="0" bIns="0" rtlCol="0" anchor="t">
            <a:normAutofit/>
          </a:bodyPr>
          <a:lstStyle/>
          <a:p>
            <a:pPr algn="l" indent="0" marL="0">
              <a:lnSpc>
                <a:spcPct val="116000"/>
              </a:lnSpc>
              <a:buNone/>
            </a:pPr>
            <a:r>
              <a:rPr lang="en-US" sz="1050" dirty="0">
                <a:solidFill>
                  <a:srgbClr val="4B4A4A"/>
                </a:solidFill>
                <a:latin typeface="Geist" pitchFamily="34" charset="0"/>
                <a:ea typeface="Geist" pitchFamily="34" charset="-122"/>
                <a:cs typeface="Geist" pitchFamily="34" charset="-120"/>
              </a:rPr>
              <a:t>Next, I want to generate intermediate representation, add some basic optimisations, and finally interpret finished programs so the whole pipeline actually runs end to end.</a:t>
            </a:r>
            <a:endParaRPr lang="en-US" sz="1050" dirty="0"/>
          </a:p>
        </p:txBody>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374084"/>
            <a:ext cx="10868745" cy="832842"/>
          </a:xfrm>
          <a:prstGeom prst="rect">
            <a:avLst/>
          </a:prstGeom>
        </p:spPr>
      </p:pic>
      <p:sp>
        <p:nvSpPr>
          <p:cNvPr id="22" name="Text 15"/>
          <p:cNvSpPr/>
          <p:nvPr/>
        </p:nvSpPr>
        <p:spPr>
          <a:xfrm>
            <a:off x="850879" y="5660330"/>
            <a:ext cx="208156" cy="260251"/>
          </a:xfrm>
          <a:prstGeom prst="rect">
            <a:avLst/>
          </a:prstGeom>
          <a:noFill/>
          <a:ln/>
        </p:spPr>
        <p:txBody>
          <a:bodyPr wrap="none" lIns="0" tIns="0" rIns="0" bIns="0" rtlCol="0" anchor="ctr"/>
          <a:lstStyle/>
          <a:p>
            <a:pPr algn="ctr" indent="0" marL="0">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5</a:t>
            </a:r>
            <a:endParaRPr lang="en-US" sz="1600" dirty="0"/>
          </a:p>
        </p:txBody>
      </p:sp>
      <p:sp>
        <p:nvSpPr>
          <p:cNvPr id="23" name="Text 16"/>
          <p:cNvSpPr/>
          <p:nvPr/>
        </p:nvSpPr>
        <p:spPr>
          <a:xfrm>
            <a:off x="1337634" y="5531941"/>
            <a:ext cx="10034733" cy="216892"/>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Guide Users Through Mistakes</a:t>
            </a:r>
            <a:endParaRPr lang="en-US" sz="1350" dirty="0"/>
          </a:p>
        </p:txBody>
      </p:sp>
      <p:sp>
        <p:nvSpPr>
          <p:cNvPr id="24" name="Text 17"/>
          <p:cNvSpPr/>
          <p:nvPr/>
        </p:nvSpPr>
        <p:spPr>
          <a:xfrm>
            <a:off x="1337634" y="5809952"/>
            <a:ext cx="10034733" cy="192584"/>
          </a:xfrm>
          <a:prstGeom prst="rect">
            <a:avLst/>
          </a:prstGeom>
          <a:noFill/>
          <a:ln/>
        </p:spPr>
        <p:txBody>
          <a:bodyPr wrap="none" lIns="0" tIns="0" rIns="0" bIns="0" rtlCol="0" anchor="t"/>
          <a:lstStyle/>
          <a:p>
            <a:pPr algn="l" indent="0" marL="0">
              <a:lnSpc>
                <a:spcPct val="116000"/>
              </a:lnSpc>
              <a:buNone/>
            </a:pPr>
            <a:r>
              <a:rPr lang="en-US" sz="1050" dirty="0">
                <a:solidFill>
                  <a:srgbClr val="4B4A4A"/>
                </a:solidFill>
                <a:latin typeface="Geist" pitchFamily="34" charset="0"/>
                <a:ea typeface="Geist" pitchFamily="34" charset="-122"/>
                <a:cs typeface="Geist" pitchFamily="34" charset="-120"/>
              </a:rPr>
              <a:t>I’d love to finish by making the error messages genuinely helpful and stage-specific, so it’s easier to spot issues, fix them, and keep moving forward.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37567"/>
            <a:ext cx="706618" cy="278110"/>
          </a:xfrm>
          <a:prstGeom prst="roundRect">
            <a:avLst>
              <a:gd name="adj" fmla="val 47406"/>
            </a:avLst>
          </a:prstGeom>
          <a:noFill/>
          <a:ln w="6350">
            <a:solidFill>
              <a:srgbClr val="006747"/>
            </a:solidFill>
            <a:prstDash val="solid"/>
          </a:ln>
        </p:spPr>
      </p:sp>
      <p:sp>
        <p:nvSpPr>
          <p:cNvPr id="3" name="Text 1"/>
          <p:cNvSpPr/>
          <p:nvPr/>
        </p:nvSpPr>
        <p:spPr>
          <a:xfrm>
            <a:off x="771307" y="592435"/>
            <a:ext cx="1096538" cy="168374"/>
          </a:xfrm>
          <a:prstGeom prst="rect">
            <a:avLst/>
          </a:prstGeom>
          <a:noFill/>
          <a:ln/>
        </p:spPr>
        <p:txBody>
          <a:bodyPr wrap="none" lIns="0" tIns="0" rIns="0" bIns="0" rtlCol="0" anchor="t"/>
          <a:lstStyle/>
          <a:p>
            <a:pPr algn="l" indent="0" marL="0">
              <a:lnSpc>
                <a:spcPct val="96000"/>
              </a:lnSpc>
              <a:buNone/>
            </a:pPr>
            <a:r>
              <a:rPr lang="en-US" sz="1150" dirty="0">
                <a:solidFill>
                  <a:srgbClr val="006747"/>
                </a:solidFill>
                <a:latin typeface="Geist" pitchFamily="34" charset="0"/>
                <a:ea typeface="Geist" pitchFamily="34" charset="-122"/>
                <a:cs typeface="Geist" pitchFamily="34" charset="-120"/>
              </a:rPr>
              <a:t>SCOPE</a:t>
            </a:r>
            <a:endParaRPr lang="en-US" sz="1150" dirty="0"/>
          </a:p>
        </p:txBody>
      </p:sp>
      <p:sp>
        <p:nvSpPr>
          <p:cNvPr id="4" name="Text 2"/>
          <p:cNvSpPr/>
          <p:nvPr/>
        </p:nvSpPr>
        <p:spPr>
          <a:xfrm>
            <a:off x="661475" y="886619"/>
            <a:ext cx="10868745" cy="572195"/>
          </a:xfrm>
          <a:prstGeom prst="rect">
            <a:avLst/>
          </a:prstGeom>
          <a:noFill/>
          <a:ln/>
        </p:spPr>
        <p:txBody>
          <a:bodyPr wrap="none" lIns="0" tIns="0" rIns="0" bIns="0" rtlCol="0" anchor="t"/>
          <a:lstStyle/>
          <a:p>
            <a:pPr algn="l" indent="0" marL="0">
              <a:lnSpc>
                <a:spcPct val="104000"/>
              </a:lnSpc>
              <a:buNone/>
            </a:pPr>
            <a:r>
              <a:rPr lang="en-US" sz="3600" b="1" dirty="0">
                <a:solidFill>
                  <a:srgbClr val="006747"/>
                </a:solidFill>
                <a:latin typeface="Noto Serif Bold" pitchFamily="34" charset="0"/>
                <a:ea typeface="Noto Serif Bold" pitchFamily="34" charset="-122"/>
                <a:cs typeface="Noto Serif Bold" pitchFamily="34" charset="-120"/>
              </a:rPr>
              <a:t>Project Scope</a:t>
            </a:r>
            <a:endParaRPr lang="en-US" sz="3600" dirty="0"/>
          </a:p>
        </p:txBody>
      </p:sp>
      <p:sp>
        <p:nvSpPr>
          <p:cNvPr id="5" name="Shape 3"/>
          <p:cNvSpPr/>
          <p:nvPr/>
        </p:nvSpPr>
        <p:spPr>
          <a:xfrm>
            <a:off x="529616" y="1724819"/>
            <a:ext cx="5474754" cy="4595515"/>
          </a:xfrm>
          <a:prstGeom prst="roundRect">
            <a:avLst>
              <a:gd name="adj" fmla="val 5738"/>
            </a:avLst>
          </a:prstGeom>
          <a:solidFill>
            <a:srgbClr val="547808">
              <a:alpha val="95000"/>
            </a:srgbClr>
          </a:solidFill>
          <a:ln/>
        </p:spPr>
      </p:sp>
      <p:sp>
        <p:nvSpPr>
          <p:cNvPr id="6" name="Text 4"/>
          <p:cNvSpPr/>
          <p:nvPr/>
        </p:nvSpPr>
        <p:spPr>
          <a:xfrm>
            <a:off x="712670" y="1902123"/>
            <a:ext cx="5108646" cy="298748"/>
          </a:xfrm>
          <a:prstGeom prst="rect">
            <a:avLst/>
          </a:prstGeom>
          <a:noFill/>
          <a:ln/>
        </p:spPr>
        <p:txBody>
          <a:bodyPr wrap="none" lIns="0" tIns="0" rIns="0" bIns="0" rtlCol="0" anchor="t"/>
          <a:lstStyle/>
          <a:p>
            <a:pPr algn="l" indent="0" marL="0">
              <a:lnSpc>
                <a:spcPct val="104000"/>
              </a:lnSpc>
              <a:buNone/>
            </a:pPr>
            <a:r>
              <a:rPr lang="en-US" sz="18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b="1" dirty="0">
                <a:solidFill>
                  <a:srgbClr val="FFFFFF"/>
                </a:solidFill>
                <a:latin typeface="Noto Serif Bold" pitchFamily="34" charset="0"/>
                <a:ea typeface="Noto Serif Bold" pitchFamily="34" charset="-122"/>
                <a:cs typeface="Noto Serif Bold" pitchFamily="34" charset="-120"/>
              </a:rPr>
              <a:t> What I'm building</a:t>
            </a:r>
            <a:endParaRPr lang="en-US" sz="1800" dirty="0"/>
          </a:p>
        </p:txBody>
      </p:sp>
      <p:sp>
        <p:nvSpPr>
          <p:cNvPr id="7" name="Text 5"/>
          <p:cNvSpPr/>
          <p:nvPr/>
        </p:nvSpPr>
        <p:spPr>
          <a:xfrm>
            <a:off x="712670" y="2378174"/>
            <a:ext cx="5108646" cy="2617490"/>
          </a:xfrm>
          <a:prstGeom prst="rect">
            <a:avLst/>
          </a:prstGeom>
          <a:noFill/>
          <a:ln/>
        </p:spPr>
        <p:txBody>
          <a:bodyPr wrap="square" lIns="0" tIns="0" rIns="0" bIns="0" rtlCol="0" anchor="t">
            <a:normAutofit/>
          </a:bodyPr>
          <a:lstStyle/>
          <a:p>
            <a:pPr algn="l" marL="284480" indent="-284480">
              <a:lnSpc>
                <a:spcPct val="131000"/>
              </a:lnSpc>
              <a:buSzPct val="100000"/>
              <a:buChar char="•"/>
            </a:pPr>
            <a:r>
              <a:rPr lang="en-US" sz="1400" dirty="0">
                <a:solidFill>
                  <a:srgbClr val="FFFFFF"/>
                </a:solidFill>
                <a:latin typeface="Geist" pitchFamily="34" charset="0"/>
                <a:ea typeface="Geist" pitchFamily="34" charset="-122"/>
                <a:cs typeface="Geist" pitchFamily="34" charset="-120"/>
              </a:rPr>
              <a:t>A small custom language with variables, data types, expressions, and statements</a:t>
            </a:r>
            <a:endParaRPr lang="en-US" sz="1400" dirty="0"/>
          </a:p>
          <a:p>
            <a:pPr algn="l" marL="284480" indent="-284480">
              <a:lnSpc>
                <a:spcPct val="131000"/>
              </a:lnSpc>
              <a:buSzPct val="100000"/>
              <a:buChar char="•"/>
            </a:pPr>
            <a:r>
              <a:rPr lang="en-US" sz="1400" dirty="0">
                <a:solidFill>
                  <a:srgbClr val="FFFFFF"/>
                </a:solidFill>
                <a:latin typeface="Geist" pitchFamily="34" charset="0"/>
                <a:ea typeface="Geist" pitchFamily="34" charset="-122"/>
                <a:cs typeface="Geist" pitchFamily="34" charset="-120"/>
              </a:rPr>
              <a:t>Conditions and loops only where they genuinely make the language more useful</a:t>
            </a:r>
            <a:endParaRPr lang="en-US" sz="1400" dirty="0"/>
          </a:p>
          <a:p>
            <a:pPr algn="l" marL="284480" indent="-284480">
              <a:lnSpc>
                <a:spcPct val="131000"/>
              </a:lnSpc>
              <a:buSzPct val="100000"/>
              <a:buChar char="•"/>
            </a:pPr>
            <a:r>
              <a:rPr lang="en-US" sz="1400" dirty="0">
                <a:solidFill>
                  <a:srgbClr val="FFFFFF"/>
                </a:solidFill>
                <a:latin typeface="Geist" pitchFamily="34" charset="0"/>
                <a:ea typeface="Geist" pitchFamily="34" charset="-122"/>
                <a:cs typeface="Geist" pitchFamily="34" charset="-120"/>
              </a:rPr>
              <a:t>The full front end: lexical analysis and parsing</a:t>
            </a:r>
            <a:endParaRPr lang="en-US" sz="1400" dirty="0"/>
          </a:p>
          <a:p>
            <a:pPr algn="l" marL="284480" indent="-284480">
              <a:lnSpc>
                <a:spcPct val="131000"/>
              </a:lnSpc>
              <a:buSzPct val="100000"/>
              <a:buChar char="•"/>
            </a:pPr>
            <a:r>
              <a:rPr lang="en-US" sz="1400" dirty="0">
                <a:solidFill>
                  <a:srgbClr val="FFFFFF"/>
                </a:solidFill>
                <a:latin typeface="Geist" pitchFamily="34" charset="0"/>
                <a:ea typeface="Geist" pitchFamily="34" charset="-122"/>
                <a:cs typeface="Geist" pitchFamily="34" charset="-120"/>
              </a:rPr>
              <a:t>AST construction and a symbol table</a:t>
            </a:r>
            <a:endParaRPr lang="en-US" sz="1400" dirty="0"/>
          </a:p>
          <a:p>
            <a:pPr algn="l" marL="284480" indent="-284480">
              <a:lnSpc>
                <a:spcPct val="131000"/>
              </a:lnSpc>
              <a:buSzPct val="100000"/>
              <a:buChar char="•"/>
            </a:pPr>
            <a:r>
              <a:rPr lang="en-US" sz="1400" dirty="0">
                <a:solidFill>
                  <a:srgbClr val="FFFFFF"/>
                </a:solidFill>
                <a:latin typeface="Geist" pitchFamily="34" charset="0"/>
                <a:ea typeface="Geist" pitchFamily="34" charset="-122"/>
                <a:cs typeface="Geist" pitchFamily="34" charset="-120"/>
              </a:rPr>
              <a:t>Semantic analysis and intermediate code generation</a:t>
            </a:r>
            <a:endParaRPr lang="en-US" sz="1400" dirty="0"/>
          </a:p>
          <a:p>
            <a:pPr algn="l" marL="284480" indent="-284480">
              <a:lnSpc>
                <a:spcPct val="131000"/>
              </a:lnSpc>
              <a:buSzPct val="100000"/>
              <a:buChar char="•"/>
            </a:pPr>
            <a:r>
              <a:rPr lang="en-US" sz="1400" dirty="0">
                <a:solidFill>
                  <a:srgbClr val="FFFFFF"/>
                </a:solidFill>
                <a:latin typeface="Geist" pitchFamily="34" charset="0"/>
                <a:ea typeface="Geist" pitchFamily="34" charset="-122"/>
                <a:cs typeface="Geist" pitchFamily="34" charset="-120"/>
              </a:rPr>
              <a:t>Basic optimisation and execution</a:t>
            </a:r>
            <a:endParaRPr lang="en-US" sz="1400" dirty="0"/>
          </a:p>
        </p:txBody>
      </p:sp>
      <p:sp>
        <p:nvSpPr>
          <p:cNvPr id="8" name="Text 6"/>
          <p:cNvSpPr/>
          <p:nvPr/>
        </p:nvSpPr>
        <p:spPr>
          <a:xfrm>
            <a:off x="6325533" y="1902123"/>
            <a:ext cx="5211037" cy="298748"/>
          </a:xfrm>
          <a:prstGeom prst="rect">
            <a:avLst/>
          </a:prstGeom>
          <a:noFill/>
          <a:ln/>
        </p:spPr>
        <p:txBody>
          <a:bodyPr wrap="none" lIns="0" tIns="0" rIns="0" bIns="0" rtlCol="0" anchor="t"/>
          <a:lstStyle/>
          <a:p>
            <a:pPr algn="l" indent="0" marL="0">
              <a:lnSpc>
                <a:spcPct val="104000"/>
              </a:lnSpc>
              <a:buNone/>
            </a:pPr>
            <a:r>
              <a:rPr lang="en-US" sz="18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800" b="1" dirty="0">
                <a:solidFill>
                  <a:srgbClr val="006747"/>
                </a:solidFill>
                <a:latin typeface="Noto Serif Bold" pitchFamily="34" charset="0"/>
                <a:ea typeface="Noto Serif Bold" pitchFamily="34" charset="-122"/>
                <a:cs typeface="Noto Serif Bold" pitchFamily="34" charset="-120"/>
              </a:rPr>
              <a:t> What I'm leaving out</a:t>
            </a:r>
            <a:endParaRPr lang="en-US" sz="1800" dirty="0"/>
          </a:p>
        </p:txBody>
      </p:sp>
      <p:sp>
        <p:nvSpPr>
          <p:cNvPr id="9" name="Text 7"/>
          <p:cNvSpPr/>
          <p:nvPr/>
        </p:nvSpPr>
        <p:spPr>
          <a:xfrm>
            <a:off x="6325533" y="2378174"/>
            <a:ext cx="5211037" cy="1690191"/>
          </a:xfrm>
          <a:prstGeom prst="rect">
            <a:avLst/>
          </a:prstGeom>
          <a:noFill/>
          <a:ln/>
        </p:spPr>
        <p:txBody>
          <a:bodyPr wrap="square" lIns="0" tIns="0" rIns="0" bIns="0" rtlCol="0" anchor="t">
            <a:normAutofit/>
          </a:bodyPr>
          <a:lstStyle/>
          <a:p>
            <a:pPr algn="l" marL="284480" indent="-284480">
              <a:lnSpc>
                <a:spcPct val="131000"/>
              </a:lnSpc>
              <a:buSzPct val="100000"/>
              <a:buChar char="•"/>
            </a:pPr>
            <a:r>
              <a:rPr lang="en-US" sz="1400" dirty="0">
                <a:solidFill>
                  <a:srgbClr val="4B4A4A"/>
                </a:solidFill>
                <a:latin typeface="Geist" pitchFamily="34" charset="0"/>
                <a:ea typeface="Geist" pitchFamily="34" charset="-122"/>
                <a:cs typeface="Geist" pitchFamily="34" charset="-120"/>
              </a:rPr>
              <a:t>Production-grade compiler features</a:t>
            </a:r>
            <a:endParaRPr lang="en-US" sz="1400" dirty="0"/>
          </a:p>
          <a:p>
            <a:pPr algn="l" marL="284480" indent="-284480">
              <a:lnSpc>
                <a:spcPct val="131000"/>
              </a:lnSpc>
              <a:buSzPct val="100000"/>
              <a:buChar char="•"/>
            </a:pPr>
            <a:r>
              <a:rPr lang="en-US" sz="1400" dirty="0">
                <a:solidFill>
                  <a:srgbClr val="4B4A4A"/>
                </a:solidFill>
                <a:latin typeface="Geist" pitchFamily="34" charset="0"/>
                <a:ea typeface="Geist" pitchFamily="34" charset="-122"/>
                <a:cs typeface="Geist" pitchFamily="34" charset="-120"/>
              </a:rPr>
              <a:t>Heavy-duty industrial optimisations</a:t>
            </a:r>
            <a:endParaRPr lang="en-US" sz="1400" dirty="0"/>
          </a:p>
          <a:p>
            <a:pPr algn="l" marL="284480" indent="-284480">
              <a:lnSpc>
                <a:spcPct val="131000"/>
              </a:lnSpc>
              <a:buSzPct val="100000"/>
              <a:buChar char="•"/>
            </a:pPr>
            <a:r>
              <a:rPr lang="en-US" sz="1400" dirty="0">
                <a:solidFill>
                  <a:srgbClr val="4B4A4A"/>
                </a:solidFill>
                <a:latin typeface="Geist" pitchFamily="34" charset="0"/>
                <a:ea typeface="Geist" pitchFamily="34" charset="-122"/>
                <a:cs typeface="Geist" pitchFamily="34" charset="-120"/>
              </a:rPr>
              <a:t>A full standard library</a:t>
            </a:r>
            <a:endParaRPr lang="en-US" sz="1400" dirty="0"/>
          </a:p>
          <a:p>
            <a:pPr algn="l" marL="284480" indent="-284480">
              <a:lnSpc>
                <a:spcPct val="131000"/>
              </a:lnSpc>
              <a:buSzPct val="100000"/>
              <a:buChar char="•"/>
            </a:pPr>
            <a:r>
              <a:rPr lang="en-US" sz="1400" dirty="0">
                <a:solidFill>
                  <a:srgbClr val="4B4A4A"/>
                </a:solidFill>
                <a:latin typeface="Geist" pitchFamily="34" charset="0"/>
                <a:ea typeface="Geist" pitchFamily="34" charset="-122"/>
                <a:cs typeface="Geist" pitchFamily="34" charset="-120"/>
              </a:rPr>
              <a:t>Support for multi-file projects</a:t>
            </a:r>
            <a:endParaRPr lang="en-US" sz="1400" dirty="0"/>
          </a:p>
          <a:p>
            <a:pPr algn="l" marL="284480" indent="-284480">
              <a:lnSpc>
                <a:spcPct val="131000"/>
              </a:lnSpc>
              <a:buSzPct val="100000"/>
              <a:buChar char="•"/>
            </a:pPr>
            <a:r>
              <a:rPr lang="en-US" sz="1400" dirty="0">
                <a:solidFill>
                  <a:srgbClr val="4B4A4A"/>
                </a:solidFill>
                <a:latin typeface="Geist" pitchFamily="34" charset="0"/>
                <a:ea typeface="Geist" pitchFamily="34" charset="-122"/>
                <a:cs typeface="Geist" pitchFamily="34" charset="-120"/>
              </a:rPr>
              <a:t>Advanced type inference</a:t>
            </a:r>
            <a:endParaRPr lang="en-US" sz="1400" dirty="0"/>
          </a:p>
        </p:txBody>
      </p:sp>
      <p:sp>
        <p:nvSpPr>
          <p:cNvPr id="10" name="Shape 8"/>
          <p:cNvSpPr/>
          <p:nvPr/>
        </p:nvSpPr>
        <p:spPr>
          <a:xfrm>
            <a:off x="6325533" y="4267895"/>
            <a:ext cx="5211037" cy="1852910"/>
          </a:xfrm>
          <a:prstGeom prst="roundRect">
            <a:avLst>
              <a:gd name="adj" fmla="val 8894"/>
            </a:avLst>
          </a:prstGeom>
          <a:solidFill>
            <a:srgbClr val="CCFFEF"/>
          </a:solidFill>
          <a:ln/>
        </p:spPr>
      </p:sp>
      <p:pic>
        <p:nvPicPr>
          <p:cNvPr id="11" name="Image 0" descr="preencoded.png">    </p:cNvPr>
          <p:cNvPicPr>
            <a:picLocks noChangeAspect="1"/>
          </p:cNvPicPr>
          <p:nvPr/>
        </p:nvPicPr>
        <p:blipFill>
          <a:blip r:embed="rId1"/>
          <a:stretch>
            <a:fillRect/>
          </a:stretch>
        </p:blipFill>
        <p:spPr>
          <a:xfrm>
            <a:off x="6508587" y="4533900"/>
            <a:ext cx="228793" cy="183059"/>
          </a:xfrm>
          <a:prstGeom prst="rect">
            <a:avLst/>
          </a:prstGeom>
        </p:spPr>
      </p:pic>
      <p:sp>
        <p:nvSpPr>
          <p:cNvPr id="12" name="Text 9"/>
          <p:cNvSpPr/>
          <p:nvPr/>
        </p:nvSpPr>
        <p:spPr>
          <a:xfrm>
            <a:off x="6920434" y="4473277"/>
            <a:ext cx="4433082" cy="1442145"/>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000000"/>
                </a:solidFill>
                <a:latin typeface="Geist" pitchFamily="34" charset="0"/>
                <a:ea typeface="Geist" pitchFamily="34" charset="-122"/>
                <a:cs typeface="Geist" pitchFamily="34" charset="-120"/>
              </a:rPr>
              <a:t>For me, this is the realistic version of the project. I want a complete, working educational pipeline that I can actually finish and understand deeply, not a massive compiler that gets too broad to stay thoughtful.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19807"/>
            <a:ext cx="627543" cy="143470"/>
          </a:xfrm>
          <a:prstGeom prst="roundRect">
            <a:avLst>
              <a:gd name="adj" fmla="val 47429"/>
            </a:avLst>
          </a:prstGeom>
          <a:noFill/>
          <a:ln w="6350">
            <a:solidFill>
              <a:srgbClr val="006747"/>
            </a:solidFill>
            <a:prstDash val="solid"/>
          </a:ln>
        </p:spPr>
      </p:sp>
      <p:sp>
        <p:nvSpPr>
          <p:cNvPr id="3" name="Text 1"/>
          <p:cNvSpPr/>
          <p:nvPr/>
        </p:nvSpPr>
        <p:spPr>
          <a:xfrm>
            <a:off x="718127" y="548084"/>
            <a:ext cx="1123823" cy="86916"/>
          </a:xfrm>
          <a:prstGeom prst="rect">
            <a:avLst/>
          </a:prstGeom>
          <a:noFill/>
          <a:ln/>
        </p:spPr>
        <p:txBody>
          <a:bodyPr wrap="none" lIns="0" tIns="0" rIns="0" bIns="0" rtlCol="0" anchor="t"/>
          <a:lstStyle/>
          <a:p>
            <a:pPr algn="l" indent="0" marL="0">
              <a:lnSpc>
                <a:spcPct val="96000"/>
              </a:lnSpc>
              <a:buNone/>
            </a:pPr>
            <a:r>
              <a:rPr lang="en-US" sz="550" dirty="0">
                <a:solidFill>
                  <a:srgbClr val="006747"/>
                </a:solidFill>
                <a:latin typeface="Geist" pitchFamily="34" charset="0"/>
                <a:ea typeface="Geist" pitchFamily="34" charset="-122"/>
                <a:cs typeface="Geist" pitchFamily="34" charset="-120"/>
              </a:rPr>
              <a:t>BACKGROUND</a:t>
            </a:r>
            <a:endParaRPr lang="en-US"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006747"/>
                </a:solidFill>
                <a:latin typeface="Noto Serif Bold" pitchFamily="34" charset="0"/>
                <a:ea typeface="Noto Serif Bold" pitchFamily="34" charset="-122"/>
                <a:cs typeface="Noto Serif Bold" pitchFamily="34" charset="-120"/>
              </a:rPr>
              <a:t>Compiler Pipeline — Key Concepts</a:t>
            </a:r>
            <a:endParaRPr lang="en-US" sz="1850" dirty="0"/>
          </a:p>
        </p:txBody>
      </p:sp>
      <p:sp>
        <p:nvSpPr>
          <p:cNvPr id="5" name="Text 3"/>
          <p:cNvSpPr/>
          <p:nvPr/>
        </p:nvSpPr>
        <p:spPr>
          <a:xfrm>
            <a:off x="661475" y="1048246"/>
            <a:ext cx="10868745" cy="226814"/>
          </a:xfrm>
          <a:prstGeom prst="rect">
            <a:avLst/>
          </a:prstGeom>
          <a:noFill/>
          <a:ln/>
        </p:spPr>
        <p:txBody>
          <a:bodyPr wrap="square" lIns="0" tIns="0" rIns="0" bIns="0" rtlCol="0" anchor="t">
            <a:normAutofit/>
          </a:bodyPr>
          <a:lstStyle/>
          <a:p>
            <a:pPr algn="l" indent="0" marL="0">
              <a:lnSpc>
                <a:spcPct val="100000"/>
              </a:lnSpc>
              <a:buNone/>
            </a:pPr>
            <a:r>
              <a:rPr lang="en-US" sz="700" dirty="0">
                <a:solidFill>
                  <a:srgbClr val="4B4A4A"/>
                </a:solidFill>
                <a:latin typeface="Geist" pitchFamily="34" charset="0"/>
                <a:ea typeface="Geist" pitchFamily="34" charset="-122"/>
                <a:cs typeface="Geist" pitchFamily="34" charset="-120"/>
              </a:rPr>
              <a:t>When I think about the compiler pipeline, I imagine the program moving through a handful of checkpoints, kind of like how I’d explain it to a friend. Each stage takes the code in its own way, tidies it up, and hands it off to the next one until everything is ready to run.</a:t>
            </a:r>
            <a:endParaRPr lang="en-US" sz="700" dirty="0"/>
          </a:p>
        </p:txBody>
      </p:sp>
      <p:pic>
        <p:nvPicPr>
          <p:cNvPr id="6" name="Image 0" descr="preencoded.png">    </p:cNvPr>
          <p:cNvPicPr>
            <a:picLocks noChangeAspect="1"/>
          </p:cNvPicPr>
          <p:nvPr/>
        </p:nvPicPr>
        <p:blipFill>
          <a:blip r:embed="rId1"/>
          <a:stretch>
            <a:fillRect/>
          </a:stretch>
        </p:blipFill>
        <p:spPr>
          <a:xfrm>
            <a:off x="1897015" y="1328142"/>
            <a:ext cx="8397566" cy="5787231"/>
          </a:xfrm>
          <a:prstGeom prst="rect">
            <a:avLst/>
          </a:prstGeom>
        </p:spPr>
      </p:pic>
      <p:sp>
        <p:nvSpPr>
          <p:cNvPr id="7" name="Text 4"/>
          <p:cNvSpPr/>
          <p:nvPr/>
        </p:nvSpPr>
        <p:spPr>
          <a:xfrm>
            <a:off x="2107337" y="4929164"/>
            <a:ext cx="2294828" cy="305690"/>
          </a:xfrm>
          <a:prstGeom prst="rect">
            <a:avLst/>
          </a:prstGeom>
          <a:noFill/>
          <a:ln/>
        </p:spPr>
        <p:txBody>
          <a:bodyPr wrap="none" lIns="0" tIns="0" rIns="0" bIns="0" rtlCol="0" anchor="t"/>
          <a:lstStyle/>
          <a:p>
            <a:pPr algn="ctr" indent="0" marL="0">
              <a:lnSpc>
                <a:spcPct val="104000"/>
              </a:lnSpc>
              <a:buNone/>
            </a:pPr>
            <a:r>
              <a:rPr lang="en-US" sz="1900" b="1" dirty="0">
                <a:solidFill>
                  <a:srgbClr val="4B4A4A"/>
                </a:solidFill>
                <a:latin typeface="Noto Serif Bold" pitchFamily="34" charset="0"/>
                <a:ea typeface="Noto Serif Bold" pitchFamily="34" charset="-122"/>
                <a:cs typeface="Noto Serif Bold" pitchFamily="34" charset="-120"/>
              </a:rPr>
              <a:t>Lexical</a:t>
            </a:r>
            <a:endParaRPr lang="en-US" sz="1900" dirty="0"/>
          </a:p>
        </p:txBody>
      </p:sp>
      <p:sp>
        <p:nvSpPr>
          <p:cNvPr id="8" name="Text 5"/>
          <p:cNvSpPr/>
          <p:nvPr/>
        </p:nvSpPr>
        <p:spPr>
          <a:xfrm>
            <a:off x="4062857" y="2498926"/>
            <a:ext cx="2369380" cy="305690"/>
          </a:xfrm>
          <a:prstGeom prst="rect">
            <a:avLst/>
          </a:prstGeom>
          <a:noFill/>
          <a:ln/>
        </p:spPr>
        <p:txBody>
          <a:bodyPr wrap="none" lIns="0" tIns="0" rIns="0" bIns="0" rtlCol="0" anchor="t"/>
          <a:lstStyle/>
          <a:p>
            <a:pPr algn="ctr" indent="0" marL="0">
              <a:lnSpc>
                <a:spcPct val="104000"/>
              </a:lnSpc>
              <a:buNone/>
            </a:pPr>
            <a:r>
              <a:rPr lang="en-US" sz="1900" b="1" dirty="0">
                <a:solidFill>
                  <a:srgbClr val="4B4A4A"/>
                </a:solidFill>
                <a:latin typeface="Noto Serif Bold" pitchFamily="34" charset="0"/>
                <a:ea typeface="Noto Serif Bold" pitchFamily="34" charset="-122"/>
                <a:cs typeface="Noto Serif Bold" pitchFamily="34" charset="-120"/>
              </a:rPr>
              <a:t>Parsing</a:t>
            </a:r>
            <a:endParaRPr lang="en-US" sz="1900" dirty="0"/>
          </a:p>
        </p:txBody>
      </p:sp>
      <p:sp>
        <p:nvSpPr>
          <p:cNvPr id="9" name="Text 6"/>
          <p:cNvSpPr/>
          <p:nvPr/>
        </p:nvSpPr>
        <p:spPr>
          <a:xfrm>
            <a:off x="5653426" y="5640913"/>
            <a:ext cx="2294828" cy="305690"/>
          </a:xfrm>
          <a:prstGeom prst="rect">
            <a:avLst/>
          </a:prstGeom>
          <a:noFill/>
          <a:ln/>
        </p:spPr>
        <p:txBody>
          <a:bodyPr wrap="none" lIns="0" tIns="0" rIns="0" bIns="0" rtlCol="0" anchor="t"/>
          <a:lstStyle/>
          <a:p>
            <a:pPr algn="ctr" indent="0" marL="0">
              <a:lnSpc>
                <a:spcPct val="104000"/>
              </a:lnSpc>
              <a:buNone/>
            </a:pPr>
            <a:r>
              <a:rPr lang="en-US" sz="1900" b="1" dirty="0">
                <a:solidFill>
                  <a:srgbClr val="4B4A4A"/>
                </a:solidFill>
                <a:latin typeface="Noto Serif Bold" pitchFamily="34" charset="0"/>
                <a:ea typeface="Noto Serif Bold" pitchFamily="34" charset="-122"/>
                <a:cs typeface="Noto Serif Bold" pitchFamily="34" charset="-120"/>
              </a:rPr>
              <a:t>Semantic</a:t>
            </a:r>
            <a:endParaRPr lang="en-US" sz="1900" dirty="0"/>
          </a:p>
        </p:txBody>
      </p:sp>
      <p:sp>
        <p:nvSpPr>
          <p:cNvPr id="10" name="Text 7"/>
          <p:cNvSpPr/>
          <p:nvPr/>
        </p:nvSpPr>
        <p:spPr>
          <a:xfrm>
            <a:off x="7690461" y="3138668"/>
            <a:ext cx="2294828" cy="305690"/>
          </a:xfrm>
          <a:prstGeom prst="rect">
            <a:avLst/>
          </a:prstGeom>
          <a:noFill/>
          <a:ln/>
        </p:spPr>
        <p:txBody>
          <a:bodyPr wrap="none" lIns="0" tIns="0" rIns="0" bIns="0" rtlCol="0" anchor="t"/>
          <a:lstStyle/>
          <a:p>
            <a:pPr algn="ctr" indent="0" marL="0">
              <a:lnSpc>
                <a:spcPct val="104000"/>
              </a:lnSpc>
              <a:buNone/>
            </a:pPr>
            <a:r>
              <a:rPr lang="en-US" sz="1900" b="1" dirty="0">
                <a:solidFill>
                  <a:srgbClr val="4B4A4A"/>
                </a:solidFill>
                <a:latin typeface="Noto Serif Bold" pitchFamily="34" charset="0"/>
                <a:ea typeface="Noto Serif Bold" pitchFamily="34" charset="-122"/>
                <a:cs typeface="Noto Serif Bold" pitchFamily="34" charset="-120"/>
              </a:rPr>
              <a:t>Optimize &amp; Run</a:t>
            </a:r>
            <a:endParaRPr lang="en-US" sz="1900" dirty="0"/>
          </a:p>
        </p:txBody>
      </p:sp>
      <p:sp>
        <p:nvSpPr>
          <p:cNvPr id="11" name="Text 8"/>
          <p:cNvSpPr/>
          <p:nvPr/>
        </p:nvSpPr>
        <p:spPr>
          <a:xfrm>
            <a:off x="661475" y="7168455"/>
            <a:ext cx="11478330" cy="113407"/>
          </a:xfrm>
          <a:prstGeom prst="rect">
            <a:avLst/>
          </a:prstGeom>
          <a:noFill/>
          <a:ln/>
        </p:spPr>
        <p:txBody>
          <a:bodyPr wrap="none" lIns="0" tIns="0" rIns="0" bIns="0" rtlCol="0" anchor="t"/>
          <a:lstStyle/>
          <a:p>
            <a:pPr algn="l" indent="0" marL="0">
              <a:lnSpc>
                <a:spcPct val="100000"/>
              </a:lnSpc>
              <a:buNone/>
            </a:pPr>
            <a:r>
              <a:rPr lang="en-US" sz="700" dirty="0">
                <a:solidFill>
                  <a:srgbClr val="4B4A4A"/>
                </a:solidFill>
                <a:latin typeface="Geist" pitchFamily="34" charset="0"/>
                <a:ea typeface="Geist" pitchFamily="34" charset="-122"/>
                <a:cs typeface="Geist" pitchFamily="34" charset="-120"/>
              </a:rPr>
              <a:t>Each stage transforms the program representation, passing structured output to the next. Errors are caught and reported at the stage where they occur.</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69813"/>
            <a:ext cx="1258856" cy="224334"/>
          </a:xfrm>
          <a:prstGeom prst="roundRect">
            <a:avLst>
              <a:gd name="adj" fmla="val 47395"/>
            </a:avLst>
          </a:prstGeom>
          <a:noFill/>
          <a:ln w="6350">
            <a:solidFill>
              <a:srgbClr val="006747"/>
            </a:solidFill>
            <a:prstDash val="solid"/>
          </a:ln>
        </p:spPr>
      </p:sp>
      <p:sp>
        <p:nvSpPr>
          <p:cNvPr id="3" name="Text 1"/>
          <p:cNvSpPr/>
          <p:nvPr/>
        </p:nvSpPr>
        <p:spPr>
          <a:xfrm>
            <a:off x="750075" y="614065"/>
            <a:ext cx="1691241" cy="135830"/>
          </a:xfrm>
          <a:prstGeom prst="rect">
            <a:avLst/>
          </a:prstGeom>
          <a:noFill/>
          <a:ln/>
        </p:spPr>
        <p:txBody>
          <a:bodyPr wrap="none" lIns="0" tIns="0" rIns="0" bIns="0" rtlCol="0" anchor="t"/>
          <a:lstStyle/>
          <a:p>
            <a:pPr algn="l" indent="0" marL="0">
              <a:lnSpc>
                <a:spcPct val="96000"/>
              </a:lnSpc>
              <a:buNone/>
            </a:pPr>
            <a:r>
              <a:rPr lang="en-US" sz="900" dirty="0">
                <a:solidFill>
                  <a:srgbClr val="006747"/>
                </a:solidFill>
                <a:latin typeface="Geist" pitchFamily="34" charset="0"/>
                <a:ea typeface="Geist" pitchFamily="34" charset="-122"/>
                <a:cs typeface="Geist" pitchFamily="34" charset="-120"/>
              </a:rPr>
              <a:t>LANGUAGE DESIGN</a:t>
            </a:r>
            <a:endParaRPr lang="en-US" sz="900" dirty="0"/>
          </a:p>
        </p:txBody>
      </p:sp>
      <p:sp>
        <p:nvSpPr>
          <p:cNvPr id="4" name="Text 2"/>
          <p:cNvSpPr/>
          <p:nvPr/>
        </p:nvSpPr>
        <p:spPr>
          <a:xfrm>
            <a:off x="661475" y="840284"/>
            <a:ext cx="10868745" cy="461466"/>
          </a:xfrm>
          <a:prstGeom prst="rect">
            <a:avLst/>
          </a:prstGeom>
          <a:noFill/>
          <a:ln/>
        </p:spPr>
        <p:txBody>
          <a:bodyPr wrap="none" lIns="0" tIns="0" rIns="0" bIns="0" rtlCol="0" anchor="t"/>
          <a:lstStyle/>
          <a:p>
            <a:pPr algn="l" indent="0" marL="0">
              <a:lnSpc>
                <a:spcPct val="104000"/>
              </a:lnSpc>
              <a:buNone/>
            </a:pPr>
            <a:r>
              <a:rPr lang="en-US" sz="2900" b="1" dirty="0">
                <a:solidFill>
                  <a:srgbClr val="006747"/>
                </a:solidFill>
                <a:latin typeface="Noto Serif Bold" pitchFamily="34" charset="0"/>
                <a:ea typeface="Noto Serif Bold" pitchFamily="34" charset="-122"/>
                <a:cs typeface="Noto Serif Bold" pitchFamily="34" charset="-120"/>
              </a:rPr>
              <a:t>Proposed Language &amp; Specification</a:t>
            </a:r>
            <a:endParaRPr lang="en-US" sz="2900" dirty="0"/>
          </a:p>
        </p:txBody>
      </p:sp>
      <p:sp>
        <p:nvSpPr>
          <p:cNvPr id="5" name="Text 3"/>
          <p:cNvSpPr/>
          <p:nvPr/>
        </p:nvSpPr>
        <p:spPr>
          <a:xfrm>
            <a:off x="661475" y="1474788"/>
            <a:ext cx="10868745" cy="971153"/>
          </a:xfrm>
          <a:prstGeom prst="rect">
            <a:avLst/>
          </a:prstGeom>
          <a:noFill/>
          <a:ln/>
        </p:spPr>
        <p:txBody>
          <a:bodyPr wrap="square" lIns="0" tIns="0" rIns="0" bIns="0" rtlCol="0" anchor="t">
            <a:normAutofit/>
          </a:bodyPr>
          <a:lstStyle/>
          <a:p>
            <a:pPr algn="l" indent="0" marL="0">
              <a:lnSpc>
                <a:spcPct val="119000"/>
              </a:lnSpc>
              <a:spcAft>
                <a:spcPts val="1000"/>
              </a:spcAft>
              <a:buNone/>
            </a:pPr>
            <a:r>
              <a:rPr lang="en-US" sz="1150" dirty="0">
                <a:solidFill>
                  <a:srgbClr val="4B4A4A"/>
                </a:solidFill>
                <a:latin typeface="Geist" pitchFamily="34" charset="0"/>
                <a:ea typeface="Geist" pitchFamily="34" charset="-122"/>
                <a:cs typeface="Geist" pitchFamily="34" charset="-120"/>
              </a:rPr>
              <a:t>I’m excited to share this first pass at the language — it’s still rough, but that’s what makes this stage so fun because I get to shape its rules, feel, and personality as I go.</a:t>
            </a:r>
            <a:endParaRPr lang="en-US" sz="1150" dirty="0"/>
          </a:p>
          <a:p>
            <a:pPr algn="l" indent="0" marL="0">
              <a:lnSpc>
                <a:spcPct val="119000"/>
              </a:lnSpc>
              <a:buNone/>
            </a:pPr>
            <a:r>
              <a:rPr lang="en-US" sz="1150" dirty="0">
                <a:solidFill>
                  <a:srgbClr val="4B4A4A"/>
                </a:solidFill>
                <a:latin typeface="Geist" pitchFamily="34" charset="0"/>
                <a:ea typeface="Geist" pitchFamily="34" charset="-122"/>
                <a:cs typeface="Geist" pitchFamily="34" charset="-120"/>
              </a:rPr>
              <a:t>Here’s a simple example to show how the language is meant to look and how the basic rules fit together. The code and grammar below are still a starting point, but they should make the idea feel a lot more concrete.</a:t>
            </a:r>
            <a:endParaRPr lang="en-US" sz="1150" dirty="0"/>
          </a:p>
        </p:txBody>
      </p:sp>
      <p:sp>
        <p:nvSpPr>
          <p:cNvPr id="6" name="Text 4"/>
          <p:cNvSpPr/>
          <p:nvPr/>
        </p:nvSpPr>
        <p:spPr>
          <a:xfrm>
            <a:off x="661475" y="2691011"/>
            <a:ext cx="5254295" cy="230684"/>
          </a:xfrm>
          <a:prstGeom prst="rect">
            <a:avLst/>
          </a:prstGeom>
          <a:noFill/>
          <a:ln/>
        </p:spPr>
        <p:txBody>
          <a:bodyPr wrap="none" lIns="0" tIns="0" rIns="0" bIns="0" rtlCol="0" anchor="t"/>
          <a:lstStyle/>
          <a:p>
            <a:pPr algn="l" indent="0" marL="0">
              <a:lnSpc>
                <a:spcPct val="104000"/>
              </a:lnSpc>
              <a:buNone/>
            </a:pPr>
            <a:r>
              <a:rPr lang="en-US" sz="1450" b="1" dirty="0">
                <a:solidFill>
                  <a:srgbClr val="006747"/>
                </a:solidFill>
                <a:latin typeface="Noto Serif Bold" pitchFamily="34" charset="0"/>
                <a:ea typeface="Noto Serif Bold" pitchFamily="34" charset="-122"/>
                <a:cs typeface="Noto Serif Bold" pitchFamily="34" charset="-120"/>
              </a:rPr>
              <a:t>Example Source Code</a:t>
            </a:r>
            <a:endParaRPr lang="en-US" sz="1450" dirty="0"/>
          </a:p>
        </p:txBody>
      </p:sp>
      <p:sp>
        <p:nvSpPr>
          <p:cNvPr id="7" name="Shape 5"/>
          <p:cNvSpPr/>
          <p:nvPr/>
        </p:nvSpPr>
        <p:spPr>
          <a:xfrm>
            <a:off x="661475" y="3051473"/>
            <a:ext cx="5254295" cy="1475978"/>
          </a:xfrm>
          <a:prstGeom prst="roundRect">
            <a:avLst>
              <a:gd name="adj" fmla="val 9004"/>
            </a:avLst>
          </a:prstGeom>
          <a:solidFill>
            <a:srgbClr val="D8ECE5"/>
          </a:solidFill>
          <a:ln/>
        </p:spPr>
      </p:sp>
      <p:sp>
        <p:nvSpPr>
          <p:cNvPr id="8" name="Text 6"/>
          <p:cNvSpPr/>
          <p:nvPr/>
        </p:nvSpPr>
        <p:spPr>
          <a:xfrm>
            <a:off x="838675" y="3199110"/>
            <a:ext cx="4899895" cy="1180703"/>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D73A49"/>
                </a:solidFill>
                <a:latin typeface="Consolas" pitchFamily="34" charset="0"/>
                <a:ea typeface="Consolas" pitchFamily="34" charset="-122"/>
                <a:cs typeface="Consolas" pitchFamily="34" charset="-120"/>
              </a:rPr>
              <a:t>int a = 10;</a:t>
            </a:r>
            <a:endParaRPr lang="en-US" sz="1150" dirty="0"/>
          </a:p>
          <a:p>
            <a:pPr algn="l" indent="0" marL="0">
              <a:lnSpc>
                <a:spcPct val="133000"/>
              </a:lnSpc>
              <a:buNone/>
            </a:pPr>
            <a:r>
              <a:rPr lang="en-US" sz="1150" dirty="0">
                <a:solidFill>
                  <a:srgbClr val="D73A49"/>
                </a:solidFill>
                <a:latin typeface="Consolas" pitchFamily="34" charset="0"/>
                <a:ea typeface="Consolas" pitchFamily="34" charset="-122"/>
                <a:cs typeface="Consolas" pitchFamily="34" charset="-120"/>
              </a:rPr>
              <a:t>int b = 20;</a:t>
            </a:r>
            <a:endParaRPr lang="en-US" sz="1150" dirty="0"/>
          </a:p>
          <a:p>
            <a:pPr algn="l" indent="0" marL="0">
              <a:lnSpc>
                <a:spcPct val="133000"/>
              </a:lnSpc>
              <a:buNone/>
            </a:pPr>
            <a:r>
              <a:rPr lang="en-US" sz="1150" dirty="0">
                <a:solidFill>
                  <a:srgbClr val="D73A49"/>
                </a:solidFill>
                <a:latin typeface="Consolas" pitchFamily="34" charset="0"/>
                <a:ea typeface="Consolas" pitchFamily="34" charset="-122"/>
                <a:cs typeface="Consolas" pitchFamily="34" charset="-120"/>
              </a:rPr>
              <a:t>int result;</a:t>
            </a:r>
            <a:endParaRPr lang="en-US" sz="1150" dirty="0"/>
          </a:p>
          <a:p>
            <a:pPr algn="l" indent="0" marL="0">
              <a:lnSpc>
                <a:spcPct val="133000"/>
              </a:lnSpc>
              <a:buNone/>
            </a:pPr>
            <a:r>
              <a:rPr lang="en-US" sz="1150" dirty="0">
                <a:solidFill>
                  <a:srgbClr val="D73A49"/>
                </a:solidFill>
                <a:latin typeface="Consolas" pitchFamily="34" charset="0"/>
                <a:ea typeface="Consolas" pitchFamily="34" charset="-122"/>
                <a:cs typeface="Consolas" pitchFamily="34" charset="-120"/>
              </a:rPr>
              <a:t>result = a + b * 2;</a:t>
            </a:r>
            <a:endParaRPr lang="en-US" sz="1150" dirty="0"/>
          </a:p>
          <a:p>
            <a:pPr algn="l" indent="0" marL="0">
              <a:lnSpc>
                <a:spcPct val="133000"/>
              </a:lnSpc>
              <a:buNone/>
            </a:pPr>
            <a:r>
              <a:rPr lang="en-US" sz="1150" dirty="0">
                <a:solidFill>
                  <a:srgbClr val="D73A49"/>
                </a:solidFill>
                <a:latin typeface="Consolas" pitchFamily="34" charset="0"/>
                <a:ea typeface="Consolas" pitchFamily="34" charset="-122"/>
                <a:cs typeface="Consolas" pitchFamily="34" charset="-120"/>
              </a:rPr>
              <a:t>print(result);</a:t>
            </a:r>
            <a:endParaRPr lang="en-US" sz="1150" dirty="0"/>
          </a:p>
        </p:txBody>
      </p:sp>
      <p:sp>
        <p:nvSpPr>
          <p:cNvPr id="9" name="Text 7"/>
          <p:cNvSpPr/>
          <p:nvPr/>
        </p:nvSpPr>
        <p:spPr>
          <a:xfrm>
            <a:off x="661475" y="4657229"/>
            <a:ext cx="5254295" cy="230684"/>
          </a:xfrm>
          <a:prstGeom prst="rect">
            <a:avLst/>
          </a:prstGeom>
          <a:noFill/>
          <a:ln/>
        </p:spPr>
        <p:txBody>
          <a:bodyPr wrap="none" lIns="0" tIns="0" rIns="0" bIns="0" rtlCol="0" anchor="t"/>
          <a:lstStyle/>
          <a:p>
            <a:pPr algn="l" indent="0" marL="0">
              <a:lnSpc>
                <a:spcPct val="104000"/>
              </a:lnSpc>
              <a:buNone/>
            </a:pPr>
            <a:r>
              <a:rPr lang="en-US" sz="1450" b="1" dirty="0">
                <a:solidFill>
                  <a:srgbClr val="006747"/>
                </a:solidFill>
                <a:latin typeface="Noto Serif Bold" pitchFamily="34" charset="0"/>
                <a:ea typeface="Noto Serif Bold" pitchFamily="34" charset="-122"/>
                <a:cs typeface="Noto Serif Bold" pitchFamily="34" charset="-120"/>
              </a:rPr>
              <a:t>Token Categories</a:t>
            </a:r>
            <a:endParaRPr lang="en-US" sz="1450" dirty="0"/>
          </a:p>
        </p:txBody>
      </p:sp>
      <p:sp>
        <p:nvSpPr>
          <p:cNvPr id="10" name="Text 8"/>
          <p:cNvSpPr/>
          <p:nvPr/>
        </p:nvSpPr>
        <p:spPr>
          <a:xfrm>
            <a:off x="661475" y="5003205"/>
            <a:ext cx="5254295" cy="1244600"/>
          </a:xfrm>
          <a:prstGeom prst="rect">
            <a:avLst/>
          </a:prstGeom>
          <a:noFill/>
          <a:ln/>
        </p:spPr>
        <p:txBody>
          <a:bodyPr wrap="square" lIns="0" tIns="0" rIns="0" bIns="0" rtlCol="0" anchor="t">
            <a:normAutofit/>
          </a:bodyPr>
          <a:lstStyle/>
          <a:p>
            <a:pPr algn="l" marL="233680" indent="-233680">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Keywords:</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int</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print</a:t>
            </a:r>
            <a:endParaRPr lang="en-US" sz="1150" dirty="0"/>
          </a:p>
          <a:p>
            <a:pPr algn="l" marL="233680" indent="-233680">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Identifiers:</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a</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result</a:t>
            </a:r>
            <a:endParaRPr lang="en-US" sz="1150" dirty="0"/>
          </a:p>
          <a:p>
            <a:pPr algn="l" marL="233680" indent="-233680">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Literals:</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10</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20</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2</a:t>
            </a:r>
            <a:endParaRPr lang="en-US" sz="1150" dirty="0"/>
          </a:p>
          <a:p>
            <a:pPr algn="l" marL="233680" indent="-233680">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Operators:</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a:t>
            </a:r>
            <a:endParaRPr lang="en-US" sz="1150" dirty="0"/>
          </a:p>
          <a:p>
            <a:pPr algn="l" marL="233680" indent="-233680">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Delimiters:</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a:t>
            </a:r>
            <a:pPr algn="l" marL="233680" indent="-233680">
              <a:lnSpc>
                <a:spcPct val="119000"/>
              </a:lnSpc>
              <a:buSzPct val="100000"/>
              <a:buChar char="•"/>
            </a:pPr>
            <a:r>
              <a:rPr lang="en-US" sz="1150" dirty="0">
                <a:solidFill>
                  <a:srgbClr val="4B4A4A"/>
                </a:solidFill>
                <a:latin typeface="Geist" pitchFamily="34" charset="0"/>
                <a:ea typeface="Geist" pitchFamily="34" charset="-122"/>
                <a:cs typeface="Geist" pitchFamily="34" charset="-120"/>
              </a:rPr>
              <a:t>, </a:t>
            </a:r>
            <a:pPr algn="l" marL="233680" indent="-233680">
              <a:lnSpc>
                <a:spcPct val="119000"/>
              </a:lnSpc>
              <a:buSzPct val="100000"/>
              <a:buChar char="•"/>
            </a:pPr>
            <a:r>
              <a:rPr lang="en-US" sz="1150" dirty="0">
                <a:solidFill>
                  <a:srgbClr val="4B4A4A"/>
                </a:solidFill>
                <a:highlight>
                  <a:srgbClr val="D8ECE5"/>
                </a:highlight>
                <a:latin typeface="Consolas" pitchFamily="34" charset="0"/>
                <a:ea typeface="Consolas" pitchFamily="34" charset="-122"/>
                <a:cs typeface="Consolas" pitchFamily="34" charset="-120"/>
              </a:rPr>
              <a:t>)</a:t>
            </a:r>
            <a:endParaRPr lang="en-US" sz="1150" dirty="0"/>
          </a:p>
        </p:txBody>
      </p:sp>
      <p:sp>
        <p:nvSpPr>
          <p:cNvPr id="11" name="Text 9"/>
          <p:cNvSpPr/>
          <p:nvPr/>
        </p:nvSpPr>
        <p:spPr>
          <a:xfrm>
            <a:off x="6282275" y="2691011"/>
            <a:ext cx="5254295" cy="230684"/>
          </a:xfrm>
          <a:prstGeom prst="rect">
            <a:avLst/>
          </a:prstGeom>
          <a:noFill/>
          <a:ln/>
        </p:spPr>
        <p:txBody>
          <a:bodyPr wrap="none" lIns="0" tIns="0" rIns="0" bIns="0" rtlCol="0" anchor="t"/>
          <a:lstStyle/>
          <a:p>
            <a:pPr algn="l" indent="0" marL="0">
              <a:lnSpc>
                <a:spcPct val="104000"/>
              </a:lnSpc>
              <a:buNone/>
            </a:pPr>
            <a:r>
              <a:rPr lang="en-US" sz="1450" b="1" dirty="0">
                <a:solidFill>
                  <a:srgbClr val="006747"/>
                </a:solidFill>
                <a:latin typeface="Noto Serif Bold" pitchFamily="34" charset="0"/>
                <a:ea typeface="Noto Serif Bold" pitchFamily="34" charset="-122"/>
                <a:cs typeface="Noto Serif Bold" pitchFamily="34" charset="-120"/>
              </a:rPr>
              <a:t>Initial Grammar </a:t>
            </a:r>
            <a:pPr algn="l" indent="0" marL="0">
              <a:lnSpc>
                <a:spcPct val="104000"/>
              </a:lnSpc>
              <a:buNone/>
            </a:pPr>
            <a:r>
              <a:rPr lang="en-US" sz="1450" b="1" i="1" dirty="0">
                <a:solidFill>
                  <a:srgbClr val="006747"/>
                </a:solidFill>
                <a:latin typeface="Noto Serif Bold" pitchFamily="34" charset="0"/>
                <a:ea typeface="Noto Serif Bold" pitchFamily="34" charset="-122"/>
                <a:cs typeface="Noto Serif Bold" pitchFamily="34" charset="-120"/>
              </a:rPr>
              <a:t>(subject to evolution)</a:t>
            </a:r>
            <a:endParaRPr lang="en-US" sz="1450" dirty="0"/>
          </a:p>
        </p:txBody>
      </p:sp>
      <p:sp>
        <p:nvSpPr>
          <p:cNvPr id="12" name="Shape 10"/>
          <p:cNvSpPr/>
          <p:nvPr/>
        </p:nvSpPr>
        <p:spPr>
          <a:xfrm>
            <a:off x="6282275" y="3051473"/>
            <a:ext cx="5254295" cy="1948259"/>
          </a:xfrm>
          <a:prstGeom prst="roundRect">
            <a:avLst>
              <a:gd name="adj" fmla="val 6822"/>
            </a:avLst>
          </a:prstGeom>
          <a:solidFill>
            <a:srgbClr val="D8ECE5"/>
          </a:solidFill>
          <a:ln/>
        </p:spPr>
      </p:sp>
      <p:sp>
        <p:nvSpPr>
          <p:cNvPr id="13" name="Text 11"/>
          <p:cNvSpPr/>
          <p:nvPr/>
        </p:nvSpPr>
        <p:spPr>
          <a:xfrm>
            <a:off x="6459475" y="3199110"/>
            <a:ext cx="4899895" cy="165298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program → statement*</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statement → declaration | assignment</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 printStatement</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expression → term ((+ | -) term)*</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term → factor ((* | /) factor)*</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factor → NUMBER | IDENTIFIER</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 '(' expression ')'</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19807"/>
            <a:ext cx="662765" cy="143470"/>
          </a:xfrm>
          <a:prstGeom prst="roundRect">
            <a:avLst>
              <a:gd name="adj" fmla="val 47429"/>
            </a:avLst>
          </a:prstGeom>
          <a:noFill/>
          <a:ln w="6350">
            <a:solidFill>
              <a:srgbClr val="006747"/>
            </a:solidFill>
            <a:prstDash val="solid"/>
          </a:ln>
        </p:spPr>
      </p:sp>
      <p:sp>
        <p:nvSpPr>
          <p:cNvPr id="3" name="Text 1"/>
          <p:cNvSpPr/>
          <p:nvPr/>
        </p:nvSpPr>
        <p:spPr>
          <a:xfrm>
            <a:off x="718127" y="548084"/>
            <a:ext cx="1159044" cy="86916"/>
          </a:xfrm>
          <a:prstGeom prst="rect">
            <a:avLst/>
          </a:prstGeom>
          <a:noFill/>
          <a:ln/>
        </p:spPr>
        <p:txBody>
          <a:bodyPr wrap="none" lIns="0" tIns="0" rIns="0" bIns="0" rtlCol="0" anchor="t"/>
          <a:lstStyle/>
          <a:p>
            <a:pPr algn="l" indent="0" marL="0">
              <a:lnSpc>
                <a:spcPct val="96000"/>
              </a:lnSpc>
              <a:buNone/>
            </a:pPr>
            <a:r>
              <a:rPr lang="en-US" sz="550" dirty="0">
                <a:solidFill>
                  <a:srgbClr val="006747"/>
                </a:solidFill>
                <a:latin typeface="Geist" pitchFamily="34" charset="0"/>
                <a:ea typeface="Geist" pitchFamily="34" charset="-122"/>
                <a:cs typeface="Geist" pitchFamily="34" charset="-120"/>
              </a:rPr>
              <a:t>ARCHITECTURE</a:t>
            </a:r>
            <a:endParaRPr lang="en-US"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006747"/>
                </a:solidFill>
                <a:latin typeface="Noto Serif Bold" pitchFamily="34" charset="0"/>
                <a:ea typeface="Noto Serif Bold" pitchFamily="34" charset="-122"/>
                <a:cs typeface="Noto Serif Bold" pitchFamily="34" charset="-120"/>
              </a:rPr>
              <a:t>System Architecture</a:t>
            </a:r>
            <a:endParaRPr lang="en-US" sz="1850" dirty="0"/>
          </a:p>
        </p:txBody>
      </p:sp>
      <p:sp>
        <p:nvSpPr>
          <p:cNvPr id="5" name="Text 3"/>
          <p:cNvSpPr/>
          <p:nvPr/>
        </p:nvSpPr>
        <p:spPr>
          <a:xfrm>
            <a:off x="661475" y="1048246"/>
            <a:ext cx="10868745" cy="226814"/>
          </a:xfrm>
          <a:prstGeom prst="rect">
            <a:avLst/>
          </a:prstGeom>
          <a:noFill/>
          <a:ln/>
        </p:spPr>
        <p:txBody>
          <a:bodyPr wrap="square" lIns="0" tIns="0" rIns="0" bIns="0" rtlCol="0" anchor="t">
            <a:normAutofit/>
          </a:bodyPr>
          <a:lstStyle/>
          <a:p>
            <a:pPr algn="l" indent="0" marL="0">
              <a:lnSpc>
                <a:spcPct val="100000"/>
              </a:lnSpc>
              <a:buNone/>
            </a:pPr>
            <a:r>
              <a:rPr lang="en-US" sz="700" dirty="0">
                <a:solidFill>
                  <a:srgbClr val="4B4A4A"/>
                </a:solidFill>
                <a:latin typeface="Geist" pitchFamily="34" charset="0"/>
                <a:ea typeface="Geist" pitchFamily="34" charset="-122"/>
                <a:cs typeface="Geist" pitchFamily="34" charset="-120"/>
              </a:rPr>
              <a:t>I designed this system as a clear path for code to follow: first I take the raw source, then I split it into tokens, build structure from those tokens, check the meaning, and finally turn everything into something executable. I made each stage deliberately separate so the architecture stays easy to reason about, and I built error handling into the flow from the start so issues get caught as early as possible.</a:t>
            </a:r>
            <a:endParaRPr lang="en-US" sz="700" dirty="0"/>
          </a:p>
        </p:txBody>
      </p:sp>
      <p:pic>
        <p:nvPicPr>
          <p:cNvPr id="6" name="Image 0" descr="preencoded.png">    </p:cNvPr>
          <p:cNvPicPr>
            <a:picLocks noChangeAspect="1"/>
          </p:cNvPicPr>
          <p:nvPr/>
        </p:nvPicPr>
        <p:blipFill>
          <a:blip r:embed="rId1"/>
          <a:stretch>
            <a:fillRect/>
          </a:stretch>
        </p:blipFill>
        <p:spPr>
          <a:xfrm>
            <a:off x="661475" y="1328142"/>
            <a:ext cx="9753356" cy="5486400"/>
          </a:xfrm>
          <a:prstGeom prst="rect">
            <a:avLst/>
          </a:prstGeom>
        </p:spPr>
      </p:pic>
      <p:sp>
        <p:nvSpPr>
          <p:cNvPr id="7" name="Text 4"/>
          <p:cNvSpPr/>
          <p:nvPr/>
        </p:nvSpPr>
        <p:spPr>
          <a:xfrm>
            <a:off x="661475" y="6867624"/>
            <a:ext cx="11478330" cy="113407"/>
          </a:xfrm>
          <a:prstGeom prst="rect">
            <a:avLst/>
          </a:prstGeom>
          <a:noFill/>
          <a:ln/>
        </p:spPr>
        <p:txBody>
          <a:bodyPr wrap="none" lIns="0" tIns="0" rIns="0" bIns="0" rtlCol="0" anchor="t"/>
          <a:lstStyle/>
          <a:p>
            <a:pPr algn="l" indent="0" marL="0">
              <a:lnSpc>
                <a:spcPct val="100000"/>
              </a:lnSpc>
              <a:buNone/>
            </a:pPr>
            <a:r>
              <a:rPr lang="en-US" sz="700" dirty="0">
                <a:solidFill>
                  <a:srgbClr val="4B4A4A"/>
                </a:solidFill>
                <a:latin typeface="Geist" pitchFamily="34" charset="0"/>
                <a:ea typeface="Geist" pitchFamily="34" charset="-122"/>
                <a:cs typeface="Geist" pitchFamily="34" charset="-120"/>
              </a:rPr>
              <a:t>Error handling is integrated at every stage — lexical errors, syntax errors, and semantic errors are caught and reported with source-location information before halting or continuing.</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580033"/>
            <a:ext cx="1478025" cy="215305"/>
          </a:xfrm>
          <a:prstGeom prst="roundRect">
            <a:avLst>
              <a:gd name="adj" fmla="val 47407"/>
            </a:avLst>
          </a:prstGeom>
          <a:noFill/>
          <a:ln w="6350">
            <a:solidFill>
              <a:srgbClr val="006747"/>
            </a:solidFill>
            <a:prstDash val="solid"/>
          </a:ln>
        </p:spPr>
      </p:sp>
      <p:sp>
        <p:nvSpPr>
          <p:cNvPr id="3" name="Text 1"/>
          <p:cNvSpPr/>
          <p:nvPr/>
        </p:nvSpPr>
        <p:spPr>
          <a:xfrm>
            <a:off x="746503" y="622498"/>
            <a:ext cx="1917553" cy="130373"/>
          </a:xfrm>
          <a:prstGeom prst="rect">
            <a:avLst/>
          </a:prstGeom>
          <a:noFill/>
          <a:ln/>
        </p:spPr>
        <p:txBody>
          <a:bodyPr wrap="none" lIns="0" tIns="0" rIns="0" bIns="0" rtlCol="0" anchor="t"/>
          <a:lstStyle/>
          <a:p>
            <a:pPr algn="l" indent="0" marL="0">
              <a:lnSpc>
                <a:spcPct val="96000"/>
              </a:lnSpc>
              <a:buNone/>
            </a:pPr>
            <a:r>
              <a:rPr lang="en-US" sz="850" dirty="0">
                <a:solidFill>
                  <a:srgbClr val="006747"/>
                </a:solidFill>
                <a:latin typeface="Geist" pitchFamily="34" charset="0"/>
                <a:ea typeface="Geist" pitchFamily="34" charset="-122"/>
                <a:cs typeface="Geist" pitchFamily="34" charset="-120"/>
              </a:rPr>
              <a:t>METHODOLOGY &amp; STACK</a:t>
            </a:r>
            <a:endParaRPr lang="en-US" sz="850" dirty="0"/>
          </a:p>
        </p:txBody>
      </p:sp>
      <p:sp>
        <p:nvSpPr>
          <p:cNvPr id="4" name="Text 2"/>
          <p:cNvSpPr/>
          <p:nvPr/>
        </p:nvSpPr>
        <p:spPr>
          <a:xfrm>
            <a:off x="661475" y="837803"/>
            <a:ext cx="10868745" cy="443012"/>
          </a:xfrm>
          <a:prstGeom prst="rect">
            <a:avLst/>
          </a:prstGeom>
          <a:noFill/>
          <a:ln/>
        </p:spPr>
        <p:txBody>
          <a:bodyPr wrap="none" lIns="0" tIns="0" rIns="0" bIns="0" rtlCol="0" anchor="t"/>
          <a:lstStyle/>
          <a:p>
            <a:pPr algn="l" indent="0" marL="0">
              <a:lnSpc>
                <a:spcPct val="104000"/>
              </a:lnSpc>
              <a:buNone/>
            </a:pPr>
            <a:r>
              <a:rPr lang="en-US" sz="2750" b="1" dirty="0">
                <a:solidFill>
                  <a:srgbClr val="006747"/>
                </a:solidFill>
                <a:latin typeface="Noto Serif Bold" pitchFamily="34" charset="0"/>
                <a:ea typeface="Noto Serif Bold" pitchFamily="34" charset="-122"/>
                <a:cs typeface="Noto Serif Bold" pitchFamily="34" charset="-120"/>
              </a:rPr>
              <a:t>Development Methodology &amp; Technology Stack</a:t>
            </a:r>
            <a:endParaRPr lang="en-US" sz="2750" dirty="0"/>
          </a:p>
        </p:txBody>
      </p:sp>
      <p:pic>
        <p:nvPicPr>
          <p:cNvPr id="5" name="Image 0" descr="preencoded.png">    </p:cNvPr>
          <p:cNvPicPr>
            <a:picLocks noChangeAspect="1"/>
          </p:cNvPicPr>
          <p:nvPr/>
        </p:nvPicPr>
        <p:blipFill>
          <a:blip r:embed="rId1"/>
          <a:stretch>
            <a:fillRect/>
          </a:stretch>
        </p:blipFill>
        <p:spPr>
          <a:xfrm>
            <a:off x="661475" y="1440259"/>
            <a:ext cx="3622882" cy="567035"/>
          </a:xfrm>
          <a:prstGeom prst="rect">
            <a:avLst/>
          </a:prstGeom>
        </p:spPr>
      </p:pic>
      <p:sp>
        <p:nvSpPr>
          <p:cNvPr id="6" name="Text 3"/>
          <p:cNvSpPr/>
          <p:nvPr/>
        </p:nvSpPr>
        <p:spPr>
          <a:xfrm>
            <a:off x="803156" y="2113558"/>
            <a:ext cx="3339520" cy="221456"/>
          </a:xfrm>
          <a:prstGeom prst="rect">
            <a:avLst/>
          </a:prstGeom>
          <a:noFill/>
          <a:ln/>
        </p:spPr>
        <p:txBody>
          <a:bodyPr wrap="none" lIns="0" tIns="0" rIns="0" bIns="0" rtlCol="0" anchor="t"/>
          <a:lstStyle/>
          <a:p>
            <a:pPr algn="l" indent="0" marL="0">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First, I got something simple running</a:t>
            </a:r>
            <a:endParaRPr lang="en-US" sz="1350" dirty="0"/>
          </a:p>
        </p:txBody>
      </p:sp>
      <p:sp>
        <p:nvSpPr>
          <p:cNvPr id="7" name="Text 4"/>
          <p:cNvSpPr/>
          <p:nvPr/>
        </p:nvSpPr>
        <p:spPr>
          <a:xfrm>
            <a:off x="803156" y="2398713"/>
            <a:ext cx="3339520"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4B4A4A"/>
                </a:solidFill>
                <a:latin typeface="Geist" pitchFamily="34" charset="0"/>
                <a:ea typeface="Geist" pitchFamily="34" charset="-122"/>
                <a:cs typeface="Geist" pitchFamily="34" charset="-120"/>
              </a:rPr>
              <a:t>I started with the language shape, then built the lexer, parser, and AST step by step.</a:t>
            </a:r>
            <a:endParaRPr lang="en-US" sz="1100" dirty="0"/>
          </a:p>
        </p:txBody>
      </p:sp>
      <p:pic>
        <p:nvPicPr>
          <p:cNvPr id="8" name="Image 1" descr="preencoded.png">    </p:cNvPr>
          <p:cNvPicPr>
            <a:picLocks noChangeAspect="1"/>
          </p:cNvPicPr>
          <p:nvPr/>
        </p:nvPicPr>
        <p:blipFill>
          <a:blip r:embed="rId2"/>
          <a:stretch>
            <a:fillRect/>
          </a:stretch>
        </p:blipFill>
        <p:spPr>
          <a:xfrm>
            <a:off x="4284357" y="1440259"/>
            <a:ext cx="3622882" cy="567035"/>
          </a:xfrm>
          <a:prstGeom prst="rect">
            <a:avLst/>
          </a:prstGeom>
        </p:spPr>
      </p:pic>
      <p:sp>
        <p:nvSpPr>
          <p:cNvPr id="9" name="Text 5"/>
          <p:cNvSpPr/>
          <p:nvPr/>
        </p:nvSpPr>
        <p:spPr>
          <a:xfrm>
            <a:off x="4426038" y="2113558"/>
            <a:ext cx="3339520" cy="442912"/>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Then I taught it how to reason about code</a:t>
            </a:r>
            <a:endParaRPr lang="en-US" sz="1350" dirty="0"/>
          </a:p>
        </p:txBody>
      </p:sp>
      <p:sp>
        <p:nvSpPr>
          <p:cNvPr id="10" name="Text 6"/>
          <p:cNvSpPr/>
          <p:nvPr/>
        </p:nvSpPr>
        <p:spPr>
          <a:xfrm>
            <a:off x="4426038" y="2620169"/>
            <a:ext cx="3339520"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4B4A4A"/>
                </a:solidFill>
                <a:latin typeface="Geist" pitchFamily="34" charset="0"/>
                <a:ea typeface="Geist" pitchFamily="34" charset="-122"/>
                <a:cs typeface="Geist" pitchFamily="34" charset="-120"/>
              </a:rPr>
              <a:t>I focused on the symbol table, semantic analysis, IR, and interpreter — where it started feeling real.</a:t>
            </a:r>
            <a:endParaRPr lang="en-US" sz="1100" dirty="0"/>
          </a:p>
        </p:txBody>
      </p:sp>
      <p:pic>
        <p:nvPicPr>
          <p:cNvPr id="11" name="Image 2" descr="preencoded.png">    </p:cNvPr>
          <p:cNvPicPr>
            <a:picLocks noChangeAspect="1"/>
          </p:cNvPicPr>
          <p:nvPr/>
        </p:nvPicPr>
        <p:blipFill>
          <a:blip r:embed="rId3"/>
          <a:stretch>
            <a:fillRect/>
          </a:stretch>
        </p:blipFill>
        <p:spPr>
          <a:xfrm>
            <a:off x="7907239" y="1440259"/>
            <a:ext cx="3622882" cy="567035"/>
          </a:xfrm>
          <a:prstGeom prst="rect">
            <a:avLst/>
          </a:prstGeom>
        </p:spPr>
      </p:pic>
      <p:sp>
        <p:nvSpPr>
          <p:cNvPr id="12" name="Text 7"/>
          <p:cNvSpPr/>
          <p:nvPr/>
        </p:nvSpPr>
        <p:spPr>
          <a:xfrm>
            <a:off x="8048920" y="2113558"/>
            <a:ext cx="3339520" cy="442912"/>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After that, I focused on making it solid</a:t>
            </a:r>
            <a:endParaRPr lang="en-US" sz="1350" dirty="0"/>
          </a:p>
        </p:txBody>
      </p:sp>
      <p:sp>
        <p:nvSpPr>
          <p:cNvPr id="13" name="Text 8"/>
          <p:cNvSpPr/>
          <p:nvPr/>
        </p:nvSpPr>
        <p:spPr>
          <a:xfrm>
            <a:off x="8048920" y="2620169"/>
            <a:ext cx="3339520"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4B4A4A"/>
                </a:solidFill>
                <a:latin typeface="Geist" pitchFamily="34" charset="0"/>
                <a:ea typeface="Geist" pitchFamily="34" charset="-122"/>
                <a:cs typeface="Geist" pitchFamily="34" charset="-120"/>
              </a:rPr>
              <a:t>I polished optimisation, connected the pieces, and leaned on testing, debugging, and documentation.</a:t>
            </a:r>
            <a:endParaRPr lang="en-US" sz="1100" dirty="0"/>
          </a:p>
        </p:txBody>
      </p:sp>
      <p:sp>
        <p:nvSpPr>
          <p:cNvPr id="14" name="Text 9"/>
          <p:cNvSpPr/>
          <p:nvPr/>
        </p:nvSpPr>
        <p:spPr>
          <a:xfrm>
            <a:off x="661475" y="3384550"/>
            <a:ext cx="5261439" cy="221456"/>
          </a:xfrm>
          <a:prstGeom prst="rect">
            <a:avLst/>
          </a:prstGeom>
          <a:noFill/>
          <a:ln/>
        </p:spPr>
        <p:txBody>
          <a:bodyPr wrap="none" lIns="0" tIns="0" rIns="0" bIns="0" rtlCol="0" anchor="t"/>
          <a:lstStyle/>
          <a:p>
            <a:pPr algn="l" indent="0" marL="0">
              <a:lnSpc>
                <a:spcPct val="104000"/>
              </a:lnSpc>
              <a:buNone/>
            </a:pPr>
            <a:r>
              <a:rPr lang="en-US" sz="1350" b="1" dirty="0">
                <a:solidFill>
                  <a:srgbClr val="006747"/>
                </a:solidFill>
                <a:latin typeface="Noto Serif Bold" pitchFamily="34" charset="0"/>
                <a:ea typeface="Noto Serif Bold" pitchFamily="34" charset="-122"/>
                <a:cs typeface="Noto Serif Bold" pitchFamily="34" charset="-120"/>
              </a:rPr>
              <a:t>Technology Stack</a:t>
            </a:r>
            <a:endParaRPr lang="en-US" sz="1350" dirty="0"/>
          </a:p>
        </p:txBody>
      </p:sp>
      <p:sp>
        <p:nvSpPr>
          <p:cNvPr id="15" name="Text 10"/>
          <p:cNvSpPr/>
          <p:nvPr/>
        </p:nvSpPr>
        <p:spPr>
          <a:xfrm>
            <a:off x="661475" y="3712270"/>
            <a:ext cx="5261439" cy="1376660"/>
          </a:xfrm>
          <a:prstGeom prst="rect">
            <a:avLst/>
          </a:prstGeom>
          <a:noFill/>
          <a:ln/>
        </p:spPr>
        <p:txBody>
          <a:bodyPr wrap="square" lIns="0" tIns="0" rIns="0" bIns="0" rtlCol="0" anchor="t">
            <a:normAutofit/>
          </a:bodyPr>
          <a:lstStyle/>
          <a:p>
            <a:pPr algn="l" marL="223520" indent="-223520">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Language:</a:t>
            </a:r>
            <a:pPr algn="l" marL="223520" indent="-223520">
              <a:lnSpc>
                <a:spcPct val="117000"/>
              </a:lnSpc>
              <a:buSzPct val="100000"/>
              <a:buChar char="•"/>
            </a:pPr>
            <a:r>
              <a:rPr lang="en-US" sz="1100" dirty="0">
                <a:solidFill>
                  <a:srgbClr val="4B4A4A"/>
                </a:solidFill>
                <a:latin typeface="Geist" pitchFamily="34" charset="0"/>
                <a:ea typeface="Geist" pitchFamily="34" charset="-122"/>
                <a:cs typeface="Geist" pitchFamily="34" charset="-120"/>
              </a:rPr>
              <a:t> C++ or Python (TBD)</a:t>
            </a:r>
            <a:endParaRPr lang="en-US" sz="1100" dirty="0"/>
          </a:p>
          <a:p>
            <a:pPr algn="l" marL="223520" indent="-223520">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Build:</a:t>
            </a:r>
            <a:pPr algn="l" marL="223520" indent="-223520">
              <a:lnSpc>
                <a:spcPct val="117000"/>
              </a:lnSpc>
              <a:buSzPct val="100000"/>
              <a:buChar char="•"/>
            </a:pPr>
            <a:r>
              <a:rPr lang="en-US" sz="1100" dirty="0">
                <a:solidFill>
                  <a:srgbClr val="4B4A4A"/>
                </a:solidFill>
                <a:latin typeface="Geist" pitchFamily="34" charset="0"/>
                <a:ea typeface="Geist" pitchFamily="34" charset="-122"/>
                <a:cs typeface="Geist" pitchFamily="34" charset="-120"/>
              </a:rPr>
              <a:t> CMake (if C++)</a:t>
            </a:r>
            <a:endParaRPr lang="en-US" sz="1100" dirty="0"/>
          </a:p>
          <a:p>
            <a:pPr algn="l" marL="223520" indent="-223520">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Version Control:</a:t>
            </a:r>
            <a:pPr algn="l" marL="223520" indent="-223520">
              <a:lnSpc>
                <a:spcPct val="117000"/>
              </a:lnSpc>
              <a:buSzPct val="100000"/>
              <a:buChar char="•"/>
            </a:pPr>
            <a:r>
              <a:rPr lang="en-US" sz="1100" dirty="0">
                <a:solidFill>
                  <a:srgbClr val="4B4A4A"/>
                </a:solidFill>
                <a:latin typeface="Geist" pitchFamily="34" charset="0"/>
                <a:ea typeface="Geist" pitchFamily="34" charset="-122"/>
                <a:cs typeface="Geist" pitchFamily="34" charset="-120"/>
              </a:rPr>
              <a:t> Git</a:t>
            </a:r>
            <a:endParaRPr lang="en-US" sz="1100" dirty="0"/>
          </a:p>
          <a:p>
            <a:pPr algn="l" marL="223520" indent="-223520">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IDE:</a:t>
            </a:r>
            <a:pPr algn="l" marL="223520" indent="-223520">
              <a:lnSpc>
                <a:spcPct val="117000"/>
              </a:lnSpc>
              <a:buSzPct val="100000"/>
              <a:buChar char="•"/>
            </a:pPr>
            <a:r>
              <a:rPr lang="en-US" sz="1100" dirty="0">
                <a:solidFill>
                  <a:srgbClr val="4B4A4A"/>
                </a:solidFill>
                <a:latin typeface="Geist" pitchFamily="34" charset="0"/>
                <a:ea typeface="Geist" pitchFamily="34" charset="-122"/>
                <a:cs typeface="Geist" pitchFamily="34" charset="-120"/>
              </a:rPr>
              <a:t> VS Code</a:t>
            </a:r>
            <a:endParaRPr lang="en-US" sz="1100" dirty="0"/>
          </a:p>
          <a:p>
            <a:pPr algn="l" marL="223520" indent="-223520">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Testing:</a:t>
            </a:r>
            <a:pPr algn="l" marL="223520" indent="-223520">
              <a:lnSpc>
                <a:spcPct val="117000"/>
              </a:lnSpc>
              <a:buSzPct val="100000"/>
              <a:buChar char="•"/>
            </a:pPr>
            <a:r>
              <a:rPr lang="en-US" sz="1100" dirty="0">
                <a:solidFill>
                  <a:srgbClr val="4B4A4A"/>
                </a:solidFill>
                <a:latin typeface="Geist" pitchFamily="34" charset="0"/>
                <a:ea typeface="Geist" pitchFamily="34" charset="-122"/>
                <a:cs typeface="Geist" pitchFamily="34" charset="-120"/>
              </a:rPr>
              <a:t> Unit testing framework</a:t>
            </a:r>
            <a:endParaRPr lang="en-US" sz="1100" dirty="0"/>
          </a:p>
          <a:p>
            <a:pPr algn="l" marL="223520" indent="-223520">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Tools:</a:t>
            </a:r>
            <a:pPr algn="l" marL="223520" indent="-223520">
              <a:lnSpc>
                <a:spcPct val="117000"/>
              </a:lnSpc>
              <a:buSzPct val="100000"/>
              <a:buChar char="•"/>
            </a:pPr>
            <a:r>
              <a:rPr lang="en-US" sz="1100" dirty="0">
                <a:solidFill>
                  <a:srgbClr val="4B4A4A"/>
                </a:solidFill>
                <a:latin typeface="Geist" pitchFamily="34" charset="0"/>
                <a:ea typeface="Geist" pitchFamily="34" charset="-122"/>
                <a:cs typeface="Geist" pitchFamily="34" charset="-120"/>
              </a:rPr>
              <a:t> Flex/Bison or ANTLR (if planned)</a:t>
            </a:r>
            <a:endParaRPr lang="en-US" sz="1100" dirty="0"/>
          </a:p>
        </p:txBody>
      </p:sp>
      <p:sp>
        <p:nvSpPr>
          <p:cNvPr id="16" name="Text 11"/>
          <p:cNvSpPr/>
          <p:nvPr/>
        </p:nvSpPr>
        <p:spPr>
          <a:xfrm>
            <a:off x="6275131" y="3384550"/>
            <a:ext cx="5261439" cy="221456"/>
          </a:xfrm>
          <a:prstGeom prst="rect">
            <a:avLst/>
          </a:prstGeom>
          <a:noFill/>
          <a:ln/>
        </p:spPr>
        <p:txBody>
          <a:bodyPr wrap="none" lIns="0" tIns="0" rIns="0" bIns="0" rtlCol="0" anchor="t"/>
          <a:lstStyle/>
          <a:p>
            <a:pPr algn="l" indent="0" marL="0">
              <a:lnSpc>
                <a:spcPct val="104000"/>
              </a:lnSpc>
              <a:buNone/>
            </a:pPr>
            <a:r>
              <a:rPr lang="en-US" sz="1350" b="1" dirty="0">
                <a:solidFill>
                  <a:srgbClr val="006747"/>
                </a:solidFill>
                <a:latin typeface="Noto Serif Bold" pitchFamily="34" charset="0"/>
                <a:ea typeface="Noto Serif Bold" pitchFamily="34" charset="-122"/>
                <a:cs typeface="Noto Serif Bold" pitchFamily="34" charset="-120"/>
              </a:rPr>
              <a:t>Initial Prototype — Lexer Output</a:t>
            </a:r>
            <a:endParaRPr lang="en-US" sz="1350" dirty="0"/>
          </a:p>
        </p:txBody>
      </p:sp>
      <p:sp>
        <p:nvSpPr>
          <p:cNvPr id="17" name="Shape 12"/>
          <p:cNvSpPr/>
          <p:nvPr/>
        </p:nvSpPr>
        <p:spPr>
          <a:xfrm>
            <a:off x="6275131" y="3725565"/>
            <a:ext cx="5261439" cy="2097881"/>
          </a:xfrm>
          <a:prstGeom prst="roundRect">
            <a:avLst>
              <a:gd name="adj" fmla="val 6082"/>
            </a:avLst>
          </a:prstGeom>
          <a:solidFill>
            <a:srgbClr val="D8ECE5"/>
          </a:solidFill>
          <a:ln/>
        </p:spPr>
      </p:sp>
      <p:sp>
        <p:nvSpPr>
          <p:cNvPr id="18" name="Text 13"/>
          <p:cNvSpPr/>
          <p:nvPr/>
        </p:nvSpPr>
        <p:spPr>
          <a:xfrm>
            <a:off x="6445188" y="3867249"/>
            <a:ext cx="4921325" cy="1814513"/>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005CC5"/>
                </a:solidFill>
                <a:latin typeface="Consolas" pitchFamily="34" charset="0"/>
                <a:ea typeface="Consolas" pitchFamily="34" charset="-122"/>
                <a:cs typeface="Consolas" pitchFamily="34" charset="-120"/>
              </a:rPr>
              <a:t>Input:  int a = 10;</a:t>
            </a:r>
            <a:endParaRPr lang="en-US" sz="1100" dirty="0"/>
          </a:p>
          <a:p>
            <a:pPr algn="l" indent="0" marL="0">
              <a:lnSpc>
                <a:spcPct val="133000"/>
              </a:lnSpc>
              <a:buNone/>
            </a:pPr>
            <a:endParaRPr lang="en-US" sz="1100" dirty="0"/>
          </a:p>
          <a:p>
            <a:pPr algn="l" indent="0" marL="0">
              <a:lnSpc>
                <a:spcPct val="133000"/>
              </a:lnSpc>
              <a:buNone/>
            </a:pPr>
            <a:r>
              <a:rPr lang="en-US" sz="1100" b="1" dirty="0">
                <a:solidFill>
                  <a:srgbClr val="005CC5"/>
                </a:solidFill>
                <a:latin typeface="Consolas" pitchFamily="34" charset="0"/>
                <a:ea typeface="Consolas" pitchFamily="34" charset="-122"/>
                <a:cs typeface="Consolas" pitchFamily="34" charset="-120"/>
              </a:rPr>
              <a:t>Output:</a:t>
            </a:r>
            <a:endParaRPr lang="en-US" sz="1100" dirty="0"/>
          </a:p>
          <a:p>
            <a:pPr algn="l" indent="0" marL="0">
              <a:lnSpc>
                <a:spcPct val="133000"/>
              </a:lnSpc>
              <a:buNone/>
            </a:pPr>
            <a:r>
              <a:rPr lang="en-US" sz="1100" b="1" dirty="0">
                <a:solidFill>
                  <a:srgbClr val="005CC5"/>
                </a:solidFill>
                <a:latin typeface="Consolas" pitchFamily="34" charset="0"/>
                <a:ea typeface="Consolas" pitchFamily="34" charset="-122"/>
                <a:cs typeface="Consolas" pitchFamily="34" charset="-120"/>
              </a:rPr>
              <a:t>TOKEN: INT</a:t>
            </a:r>
            <a:endParaRPr lang="en-US" sz="1100" dirty="0"/>
          </a:p>
          <a:p>
            <a:pPr algn="l" indent="0" marL="0">
              <a:lnSpc>
                <a:spcPct val="133000"/>
              </a:lnSpc>
              <a:buNone/>
            </a:pPr>
            <a:r>
              <a:rPr lang="en-US" sz="1100" b="1" dirty="0">
                <a:solidFill>
                  <a:srgbClr val="005CC5"/>
                </a:solidFill>
                <a:latin typeface="Consolas" pitchFamily="34" charset="0"/>
                <a:ea typeface="Consolas" pitchFamily="34" charset="-122"/>
                <a:cs typeface="Consolas" pitchFamily="34" charset="-120"/>
              </a:rPr>
              <a:t>TOKEN: IDENTIFIER(a)</a:t>
            </a:r>
            <a:endParaRPr lang="en-US" sz="1100" dirty="0"/>
          </a:p>
          <a:p>
            <a:pPr algn="l" indent="0" marL="0">
              <a:lnSpc>
                <a:spcPct val="133000"/>
              </a:lnSpc>
              <a:buNone/>
            </a:pPr>
            <a:r>
              <a:rPr lang="en-US" sz="1100" b="1" dirty="0">
                <a:solidFill>
                  <a:srgbClr val="005CC5"/>
                </a:solidFill>
                <a:latin typeface="Consolas" pitchFamily="34" charset="0"/>
                <a:ea typeface="Consolas" pitchFamily="34" charset="-122"/>
                <a:cs typeface="Consolas" pitchFamily="34" charset="-120"/>
              </a:rPr>
              <a:t>TOKEN: ASSIGN</a:t>
            </a:r>
            <a:endParaRPr lang="en-US" sz="1100" dirty="0"/>
          </a:p>
          <a:p>
            <a:pPr algn="l" indent="0" marL="0">
              <a:lnSpc>
                <a:spcPct val="133000"/>
              </a:lnSpc>
              <a:buNone/>
            </a:pPr>
            <a:r>
              <a:rPr lang="en-US" sz="1100" b="1" dirty="0">
                <a:solidFill>
                  <a:srgbClr val="005CC5"/>
                </a:solidFill>
                <a:latin typeface="Consolas" pitchFamily="34" charset="0"/>
                <a:ea typeface="Consolas" pitchFamily="34" charset="-122"/>
                <a:cs typeface="Consolas" pitchFamily="34" charset="-120"/>
              </a:rPr>
              <a:t>TOKEN: INTEGER(10)</a:t>
            </a:r>
            <a:endParaRPr lang="en-US" sz="1100" dirty="0"/>
          </a:p>
          <a:p>
            <a:pPr algn="l" indent="0" marL="0">
              <a:lnSpc>
                <a:spcPct val="133000"/>
              </a:lnSpc>
              <a:buNone/>
            </a:pPr>
            <a:r>
              <a:rPr lang="en-US" sz="1100" b="1" dirty="0">
                <a:solidFill>
                  <a:srgbClr val="005CC5"/>
                </a:solidFill>
                <a:latin typeface="Consolas" pitchFamily="34" charset="0"/>
                <a:ea typeface="Consolas" pitchFamily="34" charset="-122"/>
                <a:cs typeface="Consolas" pitchFamily="34" charset="-120"/>
              </a:rPr>
              <a:t>TOKEN: SEMICOLON</a:t>
            </a:r>
            <a:endParaRPr lang="en-US" sz="1100" dirty="0"/>
          </a:p>
        </p:txBody>
      </p:sp>
      <p:sp>
        <p:nvSpPr>
          <p:cNvPr id="19" name="Shape 14"/>
          <p:cNvSpPr/>
          <p:nvPr/>
        </p:nvSpPr>
        <p:spPr>
          <a:xfrm>
            <a:off x="6275131" y="5943005"/>
            <a:ext cx="615439" cy="215305"/>
          </a:xfrm>
          <a:prstGeom prst="roundRect">
            <a:avLst>
              <a:gd name="adj" fmla="val 47407"/>
            </a:avLst>
          </a:prstGeom>
          <a:solidFill>
            <a:srgbClr val="CCFFEF"/>
          </a:solidFill>
          <a:ln/>
        </p:spPr>
      </p:sp>
      <p:sp>
        <p:nvSpPr>
          <p:cNvPr id="20" name="Text 15"/>
          <p:cNvSpPr/>
          <p:nvPr/>
        </p:nvSpPr>
        <p:spPr>
          <a:xfrm>
            <a:off x="6360160" y="5985470"/>
            <a:ext cx="1054967" cy="130373"/>
          </a:xfrm>
          <a:prstGeom prst="rect">
            <a:avLst/>
          </a:prstGeom>
          <a:noFill/>
          <a:ln/>
        </p:spPr>
        <p:txBody>
          <a:bodyPr wrap="none" lIns="0" tIns="0" rIns="0" bIns="0" rtlCol="0" anchor="t"/>
          <a:lstStyle/>
          <a:p>
            <a:pPr algn="l" indent="0" marL="0">
              <a:lnSpc>
                <a:spcPct val="96000"/>
              </a:lnSpc>
              <a:buNone/>
            </a:pPr>
            <a:r>
              <a:rPr lang="en-US" sz="850" dirty="0">
                <a:solidFill>
                  <a:srgbClr val="4B4A4A"/>
                </a:solidFill>
                <a:latin typeface="Geist" pitchFamily="34" charset="0"/>
                <a:ea typeface="Geist" pitchFamily="34" charset="-122"/>
                <a:cs typeface="Geist" pitchFamily="34" charset="-120"/>
              </a:rPr>
              <a:t>LEXER ✓</a:t>
            </a:r>
            <a:endParaRPr lang="en-US" sz="850" dirty="0"/>
          </a:p>
        </p:txBody>
      </p:sp>
      <p:sp>
        <p:nvSpPr>
          <p:cNvPr id="21" name="Shape 16"/>
          <p:cNvSpPr/>
          <p:nvPr/>
        </p:nvSpPr>
        <p:spPr>
          <a:xfrm>
            <a:off x="6961410" y="5943005"/>
            <a:ext cx="1065583" cy="215305"/>
          </a:xfrm>
          <a:prstGeom prst="roundRect">
            <a:avLst>
              <a:gd name="adj" fmla="val 47407"/>
            </a:avLst>
          </a:prstGeom>
          <a:solidFill>
            <a:srgbClr val="CCFFEF"/>
          </a:solidFill>
          <a:ln/>
        </p:spPr>
      </p:sp>
      <p:sp>
        <p:nvSpPr>
          <p:cNvPr id="22" name="Text 17"/>
          <p:cNvSpPr/>
          <p:nvPr/>
        </p:nvSpPr>
        <p:spPr>
          <a:xfrm>
            <a:off x="7046439" y="5985470"/>
            <a:ext cx="1505111" cy="130373"/>
          </a:xfrm>
          <a:prstGeom prst="rect">
            <a:avLst/>
          </a:prstGeom>
          <a:noFill/>
          <a:ln/>
        </p:spPr>
        <p:txBody>
          <a:bodyPr wrap="none" lIns="0" tIns="0" rIns="0" bIns="0" rtlCol="0" anchor="t"/>
          <a:lstStyle/>
          <a:p>
            <a:pPr algn="l" indent="0" marL="0">
              <a:lnSpc>
                <a:spcPct val="96000"/>
              </a:lnSpc>
              <a:buNone/>
            </a:pPr>
            <a:r>
              <a:rPr lang="en-US" sz="850" dirty="0">
                <a:solidFill>
                  <a:srgbClr val="4B4A4A"/>
                </a:solidFill>
                <a:latin typeface="Geist" pitchFamily="34" charset="0"/>
                <a:ea typeface="Geist" pitchFamily="34" charset="-122"/>
                <a:cs typeface="Geist" pitchFamily="34" charset="-120"/>
              </a:rPr>
              <a:t>BASIC PARSER ✓</a:t>
            </a:r>
            <a:endParaRPr lang="en-US" sz="850" dirty="0"/>
          </a:p>
        </p:txBody>
      </p:sp>
      <p:sp>
        <p:nvSpPr>
          <p:cNvPr id="23" name="Shape 18"/>
          <p:cNvSpPr/>
          <p:nvPr/>
        </p:nvSpPr>
        <p:spPr>
          <a:xfrm>
            <a:off x="8097833" y="5943005"/>
            <a:ext cx="1136225" cy="215305"/>
          </a:xfrm>
          <a:prstGeom prst="roundRect">
            <a:avLst>
              <a:gd name="adj" fmla="val 47407"/>
            </a:avLst>
          </a:prstGeom>
          <a:solidFill>
            <a:srgbClr val="CCFFEF"/>
          </a:solidFill>
          <a:ln/>
        </p:spPr>
      </p:sp>
      <p:sp>
        <p:nvSpPr>
          <p:cNvPr id="24" name="Text 19"/>
          <p:cNvSpPr/>
          <p:nvPr/>
        </p:nvSpPr>
        <p:spPr>
          <a:xfrm>
            <a:off x="8182862" y="5985470"/>
            <a:ext cx="1575753" cy="130373"/>
          </a:xfrm>
          <a:prstGeom prst="rect">
            <a:avLst/>
          </a:prstGeom>
          <a:noFill/>
          <a:ln/>
        </p:spPr>
        <p:txBody>
          <a:bodyPr wrap="none" lIns="0" tIns="0" rIns="0" bIns="0" rtlCol="0" anchor="t"/>
          <a:lstStyle/>
          <a:p>
            <a:pPr algn="l" indent="0" marL="0">
              <a:lnSpc>
                <a:spcPct val="96000"/>
              </a:lnSpc>
              <a:buNone/>
            </a:pPr>
            <a:r>
              <a:rPr lang="en-US" sz="850" dirty="0">
                <a:solidFill>
                  <a:srgbClr val="4B4A4A"/>
                </a:solidFill>
                <a:latin typeface="Geist" pitchFamily="34" charset="0"/>
                <a:ea typeface="Geist" pitchFamily="34" charset="-122"/>
                <a:cs typeface="Geist" pitchFamily="34" charset="-120"/>
              </a:rPr>
              <a:t>AST PROTOTYPE ✓</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808137"/>
            <a:ext cx="2207959" cy="287139"/>
          </a:xfrm>
          <a:prstGeom prst="roundRect">
            <a:avLst>
              <a:gd name="adj" fmla="val 47396"/>
            </a:avLst>
          </a:prstGeom>
          <a:noFill/>
          <a:ln w="6350">
            <a:solidFill>
              <a:srgbClr val="006747"/>
            </a:solidFill>
            <a:prstDash val="solid"/>
          </a:ln>
        </p:spPr>
      </p:sp>
      <p:sp>
        <p:nvSpPr>
          <p:cNvPr id="3" name="Text 1"/>
          <p:cNvSpPr/>
          <p:nvPr/>
        </p:nvSpPr>
        <p:spPr>
          <a:xfrm>
            <a:off x="774879" y="864791"/>
            <a:ext cx="2590735" cy="173831"/>
          </a:xfrm>
          <a:prstGeom prst="rect">
            <a:avLst/>
          </a:prstGeom>
          <a:noFill/>
          <a:ln/>
        </p:spPr>
        <p:txBody>
          <a:bodyPr wrap="none" lIns="0" tIns="0" rIns="0" bIns="0" rtlCol="0" anchor="t"/>
          <a:lstStyle/>
          <a:p>
            <a:pPr algn="l" indent="0" marL="0">
              <a:lnSpc>
                <a:spcPct val="96000"/>
              </a:lnSpc>
              <a:buNone/>
            </a:pPr>
            <a:r>
              <a:rPr lang="en-US" sz="1150" dirty="0">
                <a:solidFill>
                  <a:srgbClr val="006747"/>
                </a:solidFill>
                <a:latin typeface="Geist" pitchFamily="34" charset="0"/>
                <a:ea typeface="Geist" pitchFamily="34" charset="-122"/>
                <a:cs typeface="Geist" pitchFamily="34" charset="-120"/>
              </a:rPr>
              <a:t>OUTCOMES &amp; CONCLUSION</a:t>
            </a:r>
            <a:endParaRPr lang="en-US" sz="1150" dirty="0"/>
          </a:p>
        </p:txBody>
      </p:sp>
      <p:sp>
        <p:nvSpPr>
          <p:cNvPr id="4" name="Text 2"/>
          <p:cNvSpPr/>
          <p:nvPr/>
        </p:nvSpPr>
        <p:spPr>
          <a:xfrm>
            <a:off x="661475" y="117088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006747"/>
                </a:solidFill>
                <a:latin typeface="Noto Serif Bold" pitchFamily="34" charset="0"/>
                <a:ea typeface="Noto Serif Bold" pitchFamily="34" charset="-122"/>
                <a:cs typeface="Noto Serif Bold" pitchFamily="34" charset="-120"/>
              </a:rPr>
              <a:t>Expected Outcomes &amp; Review 1 Conclusion</a:t>
            </a:r>
            <a:endParaRPr lang="en-US" sz="3700" dirty="0"/>
          </a:p>
        </p:txBody>
      </p:sp>
      <p:sp>
        <p:nvSpPr>
          <p:cNvPr id="5" name="Shape 3"/>
          <p:cNvSpPr/>
          <p:nvPr/>
        </p:nvSpPr>
        <p:spPr>
          <a:xfrm>
            <a:off x="661475" y="2044998"/>
            <a:ext cx="3496877" cy="2916337"/>
          </a:xfrm>
          <a:prstGeom prst="roundRect">
            <a:avLst>
              <a:gd name="adj" fmla="val 5833"/>
            </a:avLst>
          </a:prstGeom>
          <a:solidFill>
            <a:srgbClr val="D1EFE4"/>
          </a:solidFill>
          <a:ln w="6350">
            <a:solidFill>
              <a:srgbClr val="B7D5CA"/>
            </a:solidFill>
            <a:prstDash val="solid"/>
          </a:ln>
        </p:spPr>
      </p:sp>
      <p:sp>
        <p:nvSpPr>
          <p:cNvPr id="6" name="Text 4"/>
          <p:cNvSpPr/>
          <p:nvPr/>
        </p:nvSpPr>
        <p:spPr>
          <a:xfrm>
            <a:off x="856832" y="2240359"/>
            <a:ext cx="3106164" cy="295275"/>
          </a:xfrm>
          <a:prstGeom prst="rect">
            <a:avLst/>
          </a:prstGeom>
          <a:noFill/>
          <a:ln/>
        </p:spPr>
        <p:txBody>
          <a:bodyPr wrap="none" lIns="0" tIns="0" rIns="0" bIns="0" rtlCol="0" anchor="t"/>
          <a:lstStyle/>
          <a:p>
            <a:pPr algn="l" indent="0" marL="0">
              <a:lnSpc>
                <a:spcPct val="104000"/>
              </a:lnSpc>
              <a:buNone/>
            </a:pPr>
            <a:r>
              <a:rPr lang="en-US" sz="1850" b="1" dirty="0">
                <a:solidFill>
                  <a:srgbClr val="4B4A4A"/>
                </a:solidFill>
                <a:latin typeface="Noto Serif Bold" pitchFamily="34" charset="0"/>
                <a:ea typeface="Noto Serif Bold" pitchFamily="34" charset="-122"/>
                <a:cs typeface="Noto Serif Bold" pitchFamily="34" charset="-120"/>
              </a:rPr>
              <a:t>A Solid Starting Point</a:t>
            </a:r>
            <a:endParaRPr lang="en-US" sz="1850" dirty="0"/>
          </a:p>
        </p:txBody>
      </p:sp>
      <p:sp>
        <p:nvSpPr>
          <p:cNvPr id="7" name="Text 5"/>
          <p:cNvSpPr/>
          <p:nvPr/>
        </p:nvSpPr>
        <p:spPr>
          <a:xfrm>
            <a:off x="856832" y="2649041"/>
            <a:ext cx="3106164"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4B4A4A"/>
                </a:solidFill>
                <a:latin typeface="Geist" pitchFamily="34" charset="0"/>
                <a:ea typeface="Geist" pitchFamily="34" charset="-122"/>
                <a:cs typeface="Geist" pitchFamily="34" charset="-120"/>
              </a:rPr>
              <a:t>Honestly, it feels good to look back and see real progress. Getting the lexer, parser, and AST working gave me something tangible to build on, and that made the whole project feel much less abstract.</a:t>
            </a:r>
            <a:endParaRPr lang="en-US" sz="1450" dirty="0"/>
          </a:p>
        </p:txBody>
      </p:sp>
      <p:sp>
        <p:nvSpPr>
          <p:cNvPr id="8" name="Shape 6"/>
          <p:cNvSpPr/>
          <p:nvPr/>
        </p:nvSpPr>
        <p:spPr>
          <a:xfrm>
            <a:off x="4347359" y="2044998"/>
            <a:ext cx="3496877" cy="2916337"/>
          </a:xfrm>
          <a:prstGeom prst="roundRect">
            <a:avLst>
              <a:gd name="adj" fmla="val 5833"/>
            </a:avLst>
          </a:prstGeom>
          <a:solidFill>
            <a:srgbClr val="D1EFE4"/>
          </a:solidFill>
          <a:ln w="6350">
            <a:solidFill>
              <a:srgbClr val="B7D5CA"/>
            </a:solidFill>
            <a:prstDash val="solid"/>
          </a:ln>
        </p:spPr>
      </p:sp>
      <p:sp>
        <p:nvSpPr>
          <p:cNvPr id="9" name="Text 7"/>
          <p:cNvSpPr/>
          <p:nvPr/>
        </p:nvSpPr>
        <p:spPr>
          <a:xfrm>
            <a:off x="4542716" y="2240359"/>
            <a:ext cx="3106164" cy="295275"/>
          </a:xfrm>
          <a:prstGeom prst="rect">
            <a:avLst/>
          </a:prstGeom>
          <a:noFill/>
          <a:ln/>
        </p:spPr>
        <p:txBody>
          <a:bodyPr wrap="none" lIns="0" tIns="0" rIns="0" bIns="0" rtlCol="0" anchor="t"/>
          <a:lstStyle/>
          <a:p>
            <a:pPr algn="l" indent="0" marL="0">
              <a:lnSpc>
                <a:spcPct val="104000"/>
              </a:lnSpc>
              <a:buNone/>
            </a:pPr>
            <a:r>
              <a:rPr lang="en-US" sz="1850" b="1" dirty="0">
                <a:solidFill>
                  <a:srgbClr val="4B4A4A"/>
                </a:solidFill>
                <a:latin typeface="Noto Serif Bold" pitchFamily="34" charset="0"/>
                <a:ea typeface="Noto Serif Bold" pitchFamily="34" charset="-122"/>
                <a:cs typeface="Noto Serif Bold" pitchFamily="34" charset="-120"/>
              </a:rPr>
              <a:t>What Comes Next</a:t>
            </a:r>
            <a:endParaRPr lang="en-US" sz="1850" dirty="0"/>
          </a:p>
        </p:txBody>
      </p:sp>
      <p:sp>
        <p:nvSpPr>
          <p:cNvPr id="10" name="Text 8"/>
          <p:cNvSpPr/>
          <p:nvPr/>
        </p:nvSpPr>
        <p:spPr>
          <a:xfrm>
            <a:off x="4542716" y="2649041"/>
            <a:ext cx="3106164"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4B4A4A"/>
                </a:solidFill>
                <a:latin typeface="Geist" pitchFamily="34" charset="0"/>
                <a:ea typeface="Geist" pitchFamily="34" charset="-122"/>
                <a:cs typeface="Geist" pitchFamily="34" charset="-120"/>
              </a:rPr>
              <a:t>I know there’s still a long road ahead, but I feel more confident now than when I started. Semantic analysis, IR generation, and the rest of the pipeline no longer feel like distant ideas — they feel like the next steps I can actually reach.</a:t>
            </a:r>
            <a:endParaRPr lang="en-US" sz="1450" dirty="0"/>
          </a:p>
        </p:txBody>
      </p:sp>
      <p:sp>
        <p:nvSpPr>
          <p:cNvPr id="11" name="Shape 9"/>
          <p:cNvSpPr/>
          <p:nvPr/>
        </p:nvSpPr>
        <p:spPr>
          <a:xfrm>
            <a:off x="8033244" y="2044998"/>
            <a:ext cx="3496877" cy="2916337"/>
          </a:xfrm>
          <a:prstGeom prst="roundRect">
            <a:avLst>
              <a:gd name="adj" fmla="val 5833"/>
            </a:avLst>
          </a:prstGeom>
          <a:solidFill>
            <a:srgbClr val="D1EFE4"/>
          </a:solidFill>
          <a:ln w="6350">
            <a:solidFill>
              <a:srgbClr val="B7D5CA"/>
            </a:solidFill>
            <a:prstDash val="solid"/>
          </a:ln>
        </p:spPr>
      </p:sp>
      <p:sp>
        <p:nvSpPr>
          <p:cNvPr id="12" name="Text 10"/>
          <p:cNvSpPr/>
          <p:nvPr/>
        </p:nvSpPr>
        <p:spPr>
          <a:xfrm>
            <a:off x="8228600" y="2240359"/>
            <a:ext cx="3106164" cy="295275"/>
          </a:xfrm>
          <a:prstGeom prst="rect">
            <a:avLst/>
          </a:prstGeom>
          <a:noFill/>
          <a:ln/>
        </p:spPr>
        <p:txBody>
          <a:bodyPr wrap="none" lIns="0" tIns="0" rIns="0" bIns="0" rtlCol="0" anchor="t"/>
          <a:lstStyle/>
          <a:p>
            <a:pPr algn="l" indent="0" marL="0">
              <a:lnSpc>
                <a:spcPct val="104000"/>
              </a:lnSpc>
              <a:buNone/>
            </a:pPr>
            <a:r>
              <a:rPr lang="en-US" sz="1850" b="1" dirty="0">
                <a:solidFill>
                  <a:srgbClr val="4B4A4A"/>
                </a:solidFill>
                <a:latin typeface="Noto Serif Bold" pitchFamily="34" charset="0"/>
                <a:ea typeface="Noto Serif Bold" pitchFamily="34" charset="-122"/>
                <a:cs typeface="Noto Serif Bold" pitchFamily="34" charset="-120"/>
              </a:rPr>
              <a:t>Where I’m Headed</a:t>
            </a:r>
            <a:endParaRPr lang="en-US" sz="1850" dirty="0"/>
          </a:p>
        </p:txBody>
      </p:sp>
      <p:sp>
        <p:nvSpPr>
          <p:cNvPr id="13" name="Text 11"/>
          <p:cNvSpPr/>
          <p:nvPr/>
        </p:nvSpPr>
        <p:spPr>
          <a:xfrm>
            <a:off x="8228600" y="2649041"/>
            <a:ext cx="3106164"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4B4A4A"/>
                </a:solidFill>
                <a:latin typeface="Geist" pitchFamily="34" charset="0"/>
                <a:ea typeface="Geist" pitchFamily="34" charset="-122"/>
                <a:cs typeface="Geist" pitchFamily="34" charset="-120"/>
              </a:rPr>
              <a:t>What excites me most is seeing this grow into a compiler that feels complete and purposeful. I want it to be something I can be proud of — something that works well, teaches me a lot, and reflects the effort I’ve put into it.</a:t>
            </a:r>
            <a:endParaRPr lang="en-US" sz="1450" dirty="0"/>
          </a:p>
        </p:txBody>
      </p:sp>
      <p:sp>
        <p:nvSpPr>
          <p:cNvPr id="14" name="Shape 12"/>
          <p:cNvSpPr/>
          <p:nvPr/>
        </p:nvSpPr>
        <p:spPr>
          <a:xfrm>
            <a:off x="661475" y="5221188"/>
            <a:ext cx="10868745" cy="25400"/>
          </a:xfrm>
          <a:prstGeom prst="roundRect">
            <a:avLst>
              <a:gd name="adj" fmla="val 49999"/>
            </a:avLst>
          </a:prstGeom>
          <a:solidFill>
            <a:srgbClr val="4B4A4A">
              <a:alpha val="50000"/>
            </a:srgbClr>
          </a:solidFill>
          <a:ln/>
        </p:spPr>
      </p:sp>
      <p:sp>
        <p:nvSpPr>
          <p:cNvPr id="15" name="Text 13"/>
          <p:cNvSpPr/>
          <p:nvPr/>
        </p:nvSpPr>
        <p:spPr>
          <a:xfrm>
            <a:off x="661475" y="5577284"/>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006747"/>
                </a:solidFill>
                <a:latin typeface="Noto Serif Bold" pitchFamily="34" charset="0"/>
                <a:ea typeface="Noto Serif Bold" pitchFamily="34" charset="-122"/>
                <a:cs typeface="Noto Serif Bold" pitchFamily="34" charset="-120"/>
              </a:rPr>
              <a:t>Thank You</a:t>
            </a:r>
            <a:endParaRPr lang="en-US" sz="2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2026-09-08T12:31:48Z</dcterms:created>
  <dcterms:modified xsi:type="dcterms:W3CDTF">2026-09-08T12:31:48Z</dcterms:modified>
</cp:coreProperties>
</file>